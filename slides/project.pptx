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4401800" cy="8102600"/>
  <p:notesSz cx="14401800" cy="8102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84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20700" y="2292350"/>
            <a:ext cx="3426460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06080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82600" y="4540250"/>
            <a:ext cx="5956935" cy="1223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06080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06080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20090" y="1863598"/>
            <a:ext cx="6264783" cy="53477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416927" y="1863598"/>
            <a:ext cx="6264783" cy="53477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06080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401800" cy="8096250"/>
          </a:xfrm>
          <a:custGeom>
            <a:avLst/>
            <a:gdLst/>
            <a:ahLst/>
            <a:cxnLst/>
            <a:rect l="l" t="t" r="r" b="b"/>
            <a:pathLst>
              <a:path w="14401800" h="8096250">
                <a:moveTo>
                  <a:pt x="14401798" y="8096249"/>
                </a:moveTo>
                <a:lnTo>
                  <a:pt x="0" y="8096249"/>
                </a:lnTo>
                <a:lnTo>
                  <a:pt x="0" y="0"/>
                </a:lnTo>
                <a:lnTo>
                  <a:pt x="14401798" y="0"/>
                </a:lnTo>
                <a:lnTo>
                  <a:pt x="14401798" y="8096249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0700" y="361060"/>
            <a:ext cx="9874220" cy="18595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06080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0090" y="1863598"/>
            <a:ext cx="12961620" cy="53477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96612" y="7535418"/>
            <a:ext cx="4608576" cy="4051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20090" y="7535418"/>
            <a:ext cx="3312414" cy="4051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369296" y="7535418"/>
            <a:ext cx="3312414" cy="4051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05800" y="533400"/>
            <a:ext cx="5562599" cy="70389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50" dirty="0">
                <a:solidFill>
                  <a:srgbClr val="6D6A78"/>
                </a:solidFill>
              </a:rPr>
              <a:t>Object-</a:t>
            </a:r>
            <a:r>
              <a:rPr sz="1500" spc="60" dirty="0">
                <a:solidFill>
                  <a:srgbClr val="6D6A78"/>
                </a:solidFill>
              </a:rPr>
              <a:t>Oriented</a:t>
            </a:r>
            <a:r>
              <a:rPr sz="1500" spc="-10" dirty="0">
                <a:solidFill>
                  <a:srgbClr val="6D6A78"/>
                </a:solidFill>
              </a:rPr>
              <a:t> </a:t>
            </a:r>
            <a:r>
              <a:rPr sz="1500" spc="55" dirty="0">
                <a:solidFill>
                  <a:srgbClr val="6D6A78"/>
                </a:solidFill>
              </a:rPr>
              <a:t>Programming</a:t>
            </a:r>
            <a:r>
              <a:rPr sz="1500" spc="-10" dirty="0">
                <a:solidFill>
                  <a:srgbClr val="6D6A78"/>
                </a:solidFill>
              </a:rPr>
              <a:t> </a:t>
            </a:r>
            <a:r>
              <a:rPr sz="1500" spc="40" dirty="0">
                <a:solidFill>
                  <a:srgbClr val="6D6A78"/>
                </a:solidFill>
              </a:rPr>
              <a:t>Project</a:t>
            </a:r>
            <a:endParaRPr sz="1500"/>
          </a:p>
        </p:txBody>
      </p:sp>
      <p:sp>
        <p:nvSpPr>
          <p:cNvPr id="4" name="object 4"/>
          <p:cNvSpPr txBox="1"/>
          <p:nvPr/>
        </p:nvSpPr>
        <p:spPr>
          <a:xfrm>
            <a:off x="520700" y="2720975"/>
            <a:ext cx="5950585" cy="203708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 marR="5080">
              <a:lnSpc>
                <a:spcPts val="7200"/>
              </a:lnSpc>
              <a:spcBef>
                <a:spcPts val="1540"/>
              </a:spcBef>
            </a:pPr>
            <a:r>
              <a:rPr sz="7200" spc="155" dirty="0">
                <a:solidFill>
                  <a:srgbClr val="06080C"/>
                </a:solidFill>
                <a:latin typeface="Tahoma"/>
                <a:cs typeface="Tahoma"/>
              </a:rPr>
              <a:t>Smart</a:t>
            </a:r>
            <a:r>
              <a:rPr sz="7200" spc="-434" dirty="0">
                <a:solidFill>
                  <a:srgbClr val="06080C"/>
                </a:solidFill>
                <a:latin typeface="Tahoma"/>
                <a:cs typeface="Tahoma"/>
              </a:rPr>
              <a:t> </a:t>
            </a:r>
            <a:r>
              <a:rPr sz="7200" spc="204" dirty="0">
                <a:solidFill>
                  <a:srgbClr val="06080C"/>
                </a:solidFill>
                <a:latin typeface="Tahoma"/>
                <a:cs typeface="Tahoma"/>
              </a:rPr>
              <a:t>Parking </a:t>
            </a:r>
            <a:r>
              <a:rPr sz="7200" spc="215" dirty="0">
                <a:solidFill>
                  <a:srgbClr val="06080C"/>
                </a:solidFill>
                <a:latin typeface="Tahoma"/>
                <a:cs typeface="Tahoma"/>
              </a:rPr>
              <a:t>Management</a:t>
            </a:r>
            <a:endParaRPr sz="7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0700" y="7216775"/>
            <a:ext cx="56965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10" dirty="0">
                <a:solidFill>
                  <a:srgbClr val="6D6A78"/>
                </a:solidFill>
                <a:latin typeface="Tahoma"/>
                <a:cs typeface="Tahoma"/>
              </a:rPr>
              <a:t>Automating </a:t>
            </a:r>
            <a:r>
              <a:rPr sz="1500" spc="50" dirty="0">
                <a:solidFill>
                  <a:srgbClr val="6D6A78"/>
                </a:solidFill>
                <a:latin typeface="Tahoma"/>
                <a:cs typeface="Tahoma"/>
              </a:rPr>
              <a:t>slot</a:t>
            </a:r>
            <a:r>
              <a:rPr sz="1500" spc="1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6D6A78"/>
                </a:solidFill>
                <a:latin typeface="Tahoma"/>
                <a:cs typeface="Tahoma"/>
              </a:rPr>
              <a:t>allocation,</a:t>
            </a:r>
            <a:r>
              <a:rPr sz="1500" spc="1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6D6A78"/>
                </a:solidFill>
                <a:latin typeface="Tahoma"/>
                <a:cs typeface="Tahoma"/>
              </a:rPr>
              <a:t>fee</a:t>
            </a:r>
            <a:r>
              <a:rPr sz="1500" spc="1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6D6A78"/>
                </a:solidFill>
                <a:latin typeface="Tahoma"/>
                <a:cs typeface="Tahoma"/>
              </a:rPr>
              <a:t>calculation,</a:t>
            </a:r>
            <a:r>
              <a:rPr sz="1500" spc="1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6D6A78"/>
                </a:solidFill>
                <a:latin typeface="Tahoma"/>
                <a:cs typeface="Tahoma"/>
              </a:rPr>
              <a:t>and</a:t>
            </a:r>
            <a:r>
              <a:rPr sz="1500" spc="1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6D6A78"/>
                </a:solidFill>
                <a:latin typeface="Tahoma"/>
                <a:cs typeface="Tahoma"/>
              </a:rPr>
              <a:t>vehicle</a:t>
            </a:r>
            <a:r>
              <a:rPr sz="1500" spc="1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6D6A78"/>
                </a:solidFill>
                <a:latin typeface="Tahoma"/>
                <a:cs typeface="Tahoma"/>
              </a:rPr>
              <a:t>tracking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0700" y="511175"/>
            <a:ext cx="17195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60" dirty="0">
                <a:solidFill>
                  <a:srgbClr val="6D6A78"/>
                </a:solidFill>
                <a:latin typeface="Tahoma"/>
                <a:cs typeface="Tahoma"/>
              </a:rPr>
              <a:t>Problem</a:t>
            </a:r>
            <a:r>
              <a:rPr sz="1500" spc="-2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6D6A78"/>
                </a:solidFill>
                <a:latin typeface="Tahoma"/>
                <a:cs typeface="Tahoma"/>
              </a:rPr>
              <a:t>statement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0700" y="2806700"/>
            <a:ext cx="5765800" cy="6907019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 marR="5080">
              <a:lnSpc>
                <a:spcPts val="4800"/>
              </a:lnSpc>
              <a:spcBef>
                <a:spcPts val="1060"/>
              </a:spcBef>
            </a:pPr>
            <a:r>
              <a:rPr sz="4800" spc="135" dirty="0">
                <a:solidFill>
                  <a:srgbClr val="06080C"/>
                </a:solidFill>
                <a:latin typeface="Tahoma"/>
                <a:cs typeface="Tahoma"/>
              </a:rPr>
              <a:t>Finding</a:t>
            </a:r>
            <a:r>
              <a:rPr sz="4800" spc="-254" dirty="0">
                <a:solidFill>
                  <a:srgbClr val="06080C"/>
                </a:solidFill>
                <a:latin typeface="Tahoma"/>
                <a:cs typeface="Tahoma"/>
              </a:rPr>
              <a:t> </a:t>
            </a:r>
            <a:r>
              <a:rPr sz="4800" spc="140" dirty="0">
                <a:solidFill>
                  <a:srgbClr val="06080C"/>
                </a:solidFill>
                <a:latin typeface="Tahoma"/>
                <a:cs typeface="Tahoma"/>
              </a:rPr>
              <a:t>parking</a:t>
            </a:r>
            <a:r>
              <a:rPr sz="4800" spc="-254" dirty="0">
                <a:solidFill>
                  <a:srgbClr val="06080C"/>
                </a:solidFill>
                <a:latin typeface="Tahoma"/>
                <a:cs typeface="Tahoma"/>
              </a:rPr>
              <a:t> </a:t>
            </a:r>
            <a:r>
              <a:rPr sz="4800" spc="50" dirty="0">
                <a:solidFill>
                  <a:srgbClr val="06080C"/>
                </a:solidFill>
                <a:latin typeface="Tahoma"/>
                <a:cs typeface="Tahoma"/>
              </a:rPr>
              <a:t>in </a:t>
            </a:r>
            <a:r>
              <a:rPr sz="4800" spc="140" dirty="0">
                <a:solidFill>
                  <a:srgbClr val="06080C"/>
                </a:solidFill>
                <a:latin typeface="Tahoma"/>
                <a:cs typeface="Tahoma"/>
              </a:rPr>
              <a:t>cities</a:t>
            </a:r>
            <a:endParaRPr sz="4800" dirty="0">
              <a:latin typeface="Tahoma"/>
              <a:cs typeface="Tahoma"/>
            </a:endParaRPr>
          </a:p>
          <a:p>
            <a:pPr marL="12700">
              <a:lnSpc>
                <a:spcPts val="4800"/>
              </a:lnSpc>
            </a:pPr>
            <a:r>
              <a:rPr sz="4800" spc="190" dirty="0">
                <a:solidFill>
                  <a:srgbClr val="06080C"/>
                </a:solidFill>
                <a:latin typeface="Tahoma"/>
                <a:cs typeface="Tahoma"/>
              </a:rPr>
              <a:t>wastes</a:t>
            </a:r>
            <a:r>
              <a:rPr sz="4800" spc="-254" dirty="0">
                <a:solidFill>
                  <a:srgbClr val="06080C"/>
                </a:solidFill>
                <a:latin typeface="Tahoma"/>
                <a:cs typeface="Tahoma"/>
              </a:rPr>
              <a:t> </a:t>
            </a:r>
            <a:r>
              <a:rPr sz="4800" spc="60" dirty="0">
                <a:solidFill>
                  <a:srgbClr val="06080C"/>
                </a:solidFill>
                <a:latin typeface="Tahoma"/>
                <a:cs typeface="Tahoma"/>
              </a:rPr>
              <a:t>time</a:t>
            </a:r>
            <a:r>
              <a:rPr sz="4800" spc="-250" dirty="0">
                <a:solidFill>
                  <a:srgbClr val="06080C"/>
                </a:solidFill>
                <a:latin typeface="Tahoma"/>
                <a:cs typeface="Tahoma"/>
              </a:rPr>
              <a:t> </a:t>
            </a:r>
            <a:r>
              <a:rPr sz="4800" spc="125" dirty="0">
                <a:solidFill>
                  <a:srgbClr val="06080C"/>
                </a:solidFill>
                <a:latin typeface="Tahoma"/>
                <a:cs typeface="Tahoma"/>
              </a:rPr>
              <a:t>and</a:t>
            </a:r>
            <a:r>
              <a:rPr lang="en-IN" sz="4800" spc="125" dirty="0">
                <a:solidFill>
                  <a:srgbClr val="06080C"/>
                </a:solidFill>
                <a:latin typeface="Tahoma"/>
                <a:cs typeface="Tahoma"/>
              </a:rPr>
              <a:t> cause congestion</a:t>
            </a:r>
          </a:p>
          <a:p>
            <a:pPr marL="12700">
              <a:lnSpc>
                <a:spcPts val="4800"/>
              </a:lnSpc>
            </a:pPr>
            <a:r>
              <a:rPr lang="en-US" sz="2400" spc="65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Drivers</a:t>
            </a:r>
            <a:r>
              <a:rPr lang="en-US" sz="2400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2400" spc="85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circle</a:t>
            </a:r>
            <a:r>
              <a:rPr lang="en-US" sz="2400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2400" spc="85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endlessly</a:t>
            </a:r>
            <a:r>
              <a:rPr lang="en-US" sz="2400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2400" spc="5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for</a:t>
            </a:r>
            <a:r>
              <a:rPr lang="en-US" sz="2400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2400" spc="85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open</a:t>
            </a:r>
            <a:r>
              <a:rPr lang="en-US" sz="2400" spc="-4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2400" spc="7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spots,</a:t>
            </a:r>
            <a:r>
              <a:rPr lang="en-US" sz="2400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2400" spc="65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creating</a:t>
            </a:r>
            <a:r>
              <a:rPr lang="en-US" sz="2400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2400" spc="45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traffic </a:t>
            </a:r>
            <a:r>
              <a:rPr lang="en-US" sz="2400" spc="65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buildup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2400" spc="65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and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2400" spc="6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inefficient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2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use</a:t>
            </a:r>
            <a:r>
              <a:rPr lang="en-US" sz="2400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2400" spc="9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of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2400" spc="65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parking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2400" spc="5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infrastructure </a:t>
            </a:r>
            <a:r>
              <a:rPr lang="en-US" sz="2400" spc="105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across</a:t>
            </a:r>
            <a:r>
              <a:rPr lang="en-US" sz="2400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2400" spc="65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urban</a:t>
            </a:r>
            <a:r>
              <a:rPr lang="en-US" sz="2400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2400" spc="4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areas.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ahoma"/>
              <a:cs typeface="Tahoma"/>
            </a:endParaRPr>
          </a:p>
          <a:p>
            <a:pPr marL="12700">
              <a:lnSpc>
                <a:spcPts val="4800"/>
              </a:lnSpc>
            </a:pPr>
            <a:endParaRPr lang="en-IN" sz="2400" spc="125" dirty="0">
              <a:solidFill>
                <a:schemeClr val="tx1">
                  <a:lumMod val="65000"/>
                  <a:lumOff val="35000"/>
                </a:schemeClr>
              </a:solidFill>
              <a:latin typeface="Tahoma"/>
              <a:cs typeface="Tahoma"/>
            </a:endParaRPr>
          </a:p>
          <a:p>
            <a:pPr marL="12700">
              <a:lnSpc>
                <a:spcPts val="4800"/>
              </a:lnSpc>
            </a:pPr>
            <a:endParaRPr lang="en-IN" sz="4800" spc="125" dirty="0">
              <a:solidFill>
                <a:srgbClr val="06080C"/>
              </a:solidFill>
              <a:latin typeface="Tahoma"/>
              <a:cs typeface="Tahoma"/>
            </a:endParaRPr>
          </a:p>
          <a:p>
            <a:pPr marL="12700">
              <a:lnSpc>
                <a:spcPts val="4800"/>
              </a:lnSpc>
            </a:pPr>
            <a:endParaRPr sz="4800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0525" y="533400"/>
            <a:ext cx="5857874" cy="70389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1749" y="2473325"/>
            <a:ext cx="751776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280"/>
              </a:lnSpc>
              <a:spcBef>
                <a:spcPts val="100"/>
              </a:spcBef>
            </a:pPr>
            <a:r>
              <a:rPr sz="4800" dirty="0"/>
              <a:t>Target</a:t>
            </a:r>
            <a:r>
              <a:rPr sz="4800" spc="15" dirty="0"/>
              <a:t> </a:t>
            </a:r>
            <a:r>
              <a:rPr sz="4800" spc="190" dirty="0"/>
              <a:t>users</a:t>
            </a:r>
            <a:endParaRPr sz="4800"/>
          </a:p>
          <a:p>
            <a:pPr marL="12700">
              <a:lnSpc>
                <a:spcPts val="5280"/>
              </a:lnSpc>
            </a:pPr>
            <a:r>
              <a:rPr sz="4800" spc="229" dirty="0">
                <a:solidFill>
                  <a:srgbClr val="8E9097"/>
                </a:solidFill>
              </a:rPr>
              <a:t>Who</a:t>
            </a:r>
            <a:r>
              <a:rPr sz="4800" spc="-260" dirty="0">
                <a:solidFill>
                  <a:srgbClr val="8E9097"/>
                </a:solidFill>
              </a:rPr>
              <a:t> </a:t>
            </a:r>
            <a:r>
              <a:rPr sz="4800" spc="85" dirty="0">
                <a:solidFill>
                  <a:srgbClr val="8E9097"/>
                </a:solidFill>
              </a:rPr>
              <a:t>the</a:t>
            </a:r>
            <a:r>
              <a:rPr sz="4800" spc="-254" dirty="0">
                <a:solidFill>
                  <a:srgbClr val="8E9097"/>
                </a:solidFill>
              </a:rPr>
              <a:t> </a:t>
            </a:r>
            <a:r>
              <a:rPr sz="4800" spc="180" dirty="0">
                <a:solidFill>
                  <a:srgbClr val="8E9097"/>
                </a:solidFill>
              </a:rPr>
              <a:t>system</a:t>
            </a:r>
            <a:r>
              <a:rPr sz="4800" spc="-260" dirty="0">
                <a:solidFill>
                  <a:srgbClr val="8E9097"/>
                </a:solidFill>
              </a:rPr>
              <a:t> </a:t>
            </a:r>
            <a:r>
              <a:rPr sz="4800" spc="185" dirty="0">
                <a:solidFill>
                  <a:srgbClr val="8E9097"/>
                </a:solidFill>
              </a:rPr>
              <a:t>is</a:t>
            </a:r>
            <a:r>
              <a:rPr sz="4800" spc="-254" dirty="0">
                <a:solidFill>
                  <a:srgbClr val="8E9097"/>
                </a:solidFill>
              </a:rPr>
              <a:t> </a:t>
            </a:r>
            <a:r>
              <a:rPr sz="4800" spc="65" dirty="0">
                <a:solidFill>
                  <a:srgbClr val="8E9097"/>
                </a:solidFill>
              </a:rPr>
              <a:t>built</a:t>
            </a:r>
            <a:r>
              <a:rPr sz="4800" spc="-260" dirty="0">
                <a:solidFill>
                  <a:srgbClr val="8E9097"/>
                </a:solidFill>
              </a:rPr>
              <a:t> </a:t>
            </a:r>
            <a:r>
              <a:rPr sz="4800" spc="75" dirty="0">
                <a:solidFill>
                  <a:srgbClr val="8E9097"/>
                </a:solidFill>
              </a:rPr>
              <a:t>for</a:t>
            </a:r>
            <a:endParaRPr sz="4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4449" y="4581524"/>
            <a:ext cx="3705224" cy="24415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30349" y="4673218"/>
            <a:ext cx="3072130" cy="117856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800" spc="65" dirty="0">
                <a:solidFill>
                  <a:srgbClr val="6D6A78"/>
                </a:solidFill>
                <a:latin typeface="Tahoma"/>
                <a:cs typeface="Tahoma"/>
              </a:rPr>
              <a:t>Lot</a:t>
            </a:r>
            <a:r>
              <a:rPr sz="1800" spc="-6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6D6A78"/>
                </a:solidFill>
                <a:latin typeface="Tahoma"/>
                <a:cs typeface="Tahoma"/>
              </a:rPr>
              <a:t>administrators</a:t>
            </a:r>
            <a:endParaRPr sz="1800" dirty="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690"/>
              </a:spcBef>
            </a:pPr>
            <a:r>
              <a:rPr sz="1500" spc="85" dirty="0">
                <a:solidFill>
                  <a:srgbClr val="6D6A78"/>
                </a:solidFill>
                <a:latin typeface="Tahoma"/>
                <a:cs typeface="Tahoma"/>
              </a:rPr>
              <a:t>Manage</a:t>
            </a:r>
            <a:r>
              <a:rPr sz="1500" spc="-4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6D6A78"/>
                </a:solidFill>
                <a:latin typeface="Tahoma"/>
                <a:cs typeface="Tahoma"/>
              </a:rPr>
              <a:t>parking</a:t>
            </a:r>
            <a:r>
              <a:rPr sz="1500" spc="-3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6D6A78"/>
                </a:solidFill>
                <a:latin typeface="Tahoma"/>
                <a:cs typeface="Tahoma"/>
              </a:rPr>
              <a:t>spaces,</a:t>
            </a:r>
            <a:r>
              <a:rPr sz="1500" spc="-4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6D6A78"/>
                </a:solidFill>
                <a:latin typeface="Tahoma"/>
                <a:cs typeface="Tahoma"/>
              </a:rPr>
              <a:t>monitor </a:t>
            </a:r>
            <a:r>
              <a:rPr sz="1500" spc="75" dirty="0">
                <a:solidFill>
                  <a:srgbClr val="6D6A78"/>
                </a:solidFill>
                <a:latin typeface="Tahoma"/>
                <a:cs typeface="Tahoma"/>
              </a:rPr>
              <a:t>occupancy,</a:t>
            </a:r>
            <a:r>
              <a:rPr sz="1500" spc="-4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6D6A78"/>
                </a:solidFill>
                <a:latin typeface="Tahoma"/>
                <a:cs typeface="Tahoma"/>
              </a:rPr>
              <a:t>and</a:t>
            </a:r>
            <a:r>
              <a:rPr sz="1500" spc="-3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6D6A78"/>
                </a:solidFill>
                <a:latin typeface="Tahoma"/>
                <a:cs typeface="Tahoma"/>
              </a:rPr>
              <a:t>configure</a:t>
            </a:r>
            <a:r>
              <a:rPr sz="1500" spc="-4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6D6A78"/>
                </a:solidFill>
                <a:latin typeface="Tahoma"/>
                <a:cs typeface="Tahoma"/>
              </a:rPr>
              <a:t>system </a:t>
            </a:r>
            <a:r>
              <a:rPr sz="1500" spc="-10" dirty="0">
                <a:solidFill>
                  <a:srgbClr val="6D6A78"/>
                </a:solidFill>
                <a:latin typeface="Tahoma"/>
                <a:cs typeface="Tahoma"/>
              </a:rPr>
              <a:t>settings.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19212" y="4586286"/>
            <a:ext cx="3695700" cy="2066925"/>
          </a:xfrm>
          <a:custGeom>
            <a:avLst/>
            <a:gdLst/>
            <a:ahLst/>
            <a:cxnLst/>
            <a:rect l="l" t="t" r="r" b="b"/>
            <a:pathLst>
              <a:path w="3695700" h="2066925">
                <a:moveTo>
                  <a:pt x="0" y="1919287"/>
                </a:moveTo>
                <a:lnTo>
                  <a:pt x="0" y="147637"/>
                </a:lnTo>
                <a:lnTo>
                  <a:pt x="177" y="140384"/>
                </a:lnTo>
                <a:lnTo>
                  <a:pt x="8626" y="97907"/>
                </a:lnTo>
                <a:lnTo>
                  <a:pt x="29058" y="59682"/>
                </a:lnTo>
                <a:lnTo>
                  <a:pt x="59682" y="29058"/>
                </a:lnTo>
                <a:lnTo>
                  <a:pt x="97907" y="8626"/>
                </a:lnTo>
                <a:lnTo>
                  <a:pt x="140384" y="177"/>
                </a:lnTo>
                <a:lnTo>
                  <a:pt x="147637" y="0"/>
                </a:lnTo>
                <a:lnTo>
                  <a:pt x="3548062" y="0"/>
                </a:lnTo>
                <a:lnTo>
                  <a:pt x="3590919" y="6355"/>
                </a:lnTo>
                <a:lnTo>
                  <a:pt x="3630084" y="24881"/>
                </a:lnTo>
                <a:lnTo>
                  <a:pt x="3662188" y="53975"/>
                </a:lnTo>
                <a:lnTo>
                  <a:pt x="3684460" y="91138"/>
                </a:lnTo>
                <a:lnTo>
                  <a:pt x="3694990" y="133166"/>
                </a:lnTo>
                <a:lnTo>
                  <a:pt x="3695699" y="147637"/>
                </a:lnTo>
                <a:lnTo>
                  <a:pt x="3695699" y="1919287"/>
                </a:lnTo>
                <a:lnTo>
                  <a:pt x="3689344" y="1962144"/>
                </a:lnTo>
                <a:lnTo>
                  <a:pt x="3670817" y="2001309"/>
                </a:lnTo>
                <a:lnTo>
                  <a:pt x="3641723" y="2033413"/>
                </a:lnTo>
                <a:lnTo>
                  <a:pt x="3604559" y="2055685"/>
                </a:lnTo>
                <a:lnTo>
                  <a:pt x="3562533" y="2066215"/>
                </a:lnTo>
                <a:lnTo>
                  <a:pt x="3548062" y="2066924"/>
                </a:lnTo>
                <a:lnTo>
                  <a:pt x="147637" y="2066924"/>
                </a:lnTo>
                <a:lnTo>
                  <a:pt x="104779" y="2060568"/>
                </a:lnTo>
                <a:lnTo>
                  <a:pt x="65614" y="2042041"/>
                </a:lnTo>
                <a:lnTo>
                  <a:pt x="33510" y="2012947"/>
                </a:lnTo>
                <a:lnTo>
                  <a:pt x="11238" y="1975784"/>
                </a:lnTo>
                <a:lnTo>
                  <a:pt x="709" y="1933757"/>
                </a:lnTo>
                <a:lnTo>
                  <a:pt x="0" y="1919287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43524" y="4581524"/>
            <a:ext cx="3705224" cy="244157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559424" y="4673218"/>
            <a:ext cx="3141345" cy="94996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800" spc="55" dirty="0">
                <a:solidFill>
                  <a:srgbClr val="6D6A78"/>
                </a:solidFill>
                <a:latin typeface="Tahoma"/>
                <a:cs typeface="Tahoma"/>
              </a:rPr>
              <a:t>Drivers</a:t>
            </a:r>
            <a:endParaRPr sz="1800" dirty="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690"/>
              </a:spcBef>
            </a:pPr>
            <a:r>
              <a:rPr sz="1500" spc="60" dirty="0">
                <a:solidFill>
                  <a:srgbClr val="6D6A78"/>
                </a:solidFill>
                <a:latin typeface="Tahoma"/>
                <a:cs typeface="Tahoma"/>
              </a:rPr>
              <a:t>Find</a:t>
            </a:r>
            <a:r>
              <a:rPr sz="1500" spc="5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10" dirty="0">
                <a:solidFill>
                  <a:srgbClr val="6D6A78"/>
                </a:solidFill>
                <a:latin typeface="Tahoma"/>
                <a:cs typeface="Tahoma"/>
              </a:rPr>
              <a:t>available</a:t>
            </a:r>
            <a:r>
              <a:rPr sz="1500" spc="55" dirty="0">
                <a:solidFill>
                  <a:srgbClr val="6D6A78"/>
                </a:solidFill>
                <a:latin typeface="Tahoma"/>
                <a:cs typeface="Tahoma"/>
              </a:rPr>
              <a:t> spots,</a:t>
            </a:r>
            <a:r>
              <a:rPr sz="1500" spc="6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10" dirty="0">
                <a:solidFill>
                  <a:srgbClr val="6D6A78"/>
                </a:solidFill>
                <a:latin typeface="Tahoma"/>
                <a:cs typeface="Tahoma"/>
              </a:rPr>
              <a:t>enter</a:t>
            </a:r>
            <a:r>
              <a:rPr sz="1500" spc="5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6D6A78"/>
                </a:solidFill>
                <a:latin typeface="Tahoma"/>
                <a:cs typeface="Tahoma"/>
              </a:rPr>
              <a:t>and</a:t>
            </a:r>
            <a:r>
              <a:rPr sz="1500" spc="5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6D6A78"/>
                </a:solidFill>
                <a:latin typeface="Tahoma"/>
                <a:cs typeface="Tahoma"/>
              </a:rPr>
              <a:t>exit </a:t>
            </a:r>
            <a:r>
              <a:rPr sz="1500" dirty="0">
                <a:solidFill>
                  <a:srgbClr val="6D6A78"/>
                </a:solidFill>
                <a:latin typeface="Tahoma"/>
                <a:cs typeface="Tahoma"/>
              </a:rPr>
              <a:t>the</a:t>
            </a:r>
            <a:r>
              <a:rPr sz="1500" spc="1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D6A78"/>
                </a:solidFill>
                <a:latin typeface="Tahoma"/>
                <a:cs typeface="Tahoma"/>
              </a:rPr>
              <a:t>lot,</a:t>
            </a:r>
            <a:r>
              <a:rPr sz="1500" spc="1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6D6A78"/>
                </a:solidFill>
                <a:latin typeface="Tahoma"/>
                <a:cs typeface="Tahoma"/>
              </a:rPr>
              <a:t>and</a:t>
            </a:r>
            <a:r>
              <a:rPr sz="1500" spc="2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6D6A78"/>
                </a:solidFill>
                <a:latin typeface="Tahoma"/>
                <a:cs typeface="Tahoma"/>
              </a:rPr>
              <a:t>pay</a:t>
            </a:r>
            <a:r>
              <a:rPr sz="1500" spc="1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D6A78"/>
                </a:solidFill>
                <a:latin typeface="Tahoma"/>
                <a:cs typeface="Tahoma"/>
              </a:rPr>
              <a:t>for</a:t>
            </a:r>
            <a:r>
              <a:rPr sz="1500" spc="1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40" dirty="0">
                <a:solidFill>
                  <a:srgbClr val="6D6A78"/>
                </a:solidFill>
                <a:latin typeface="Tahoma"/>
                <a:cs typeface="Tahoma"/>
              </a:rPr>
              <a:t>parking.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48286" y="4586286"/>
            <a:ext cx="3695700" cy="2066925"/>
          </a:xfrm>
          <a:custGeom>
            <a:avLst/>
            <a:gdLst/>
            <a:ahLst/>
            <a:cxnLst/>
            <a:rect l="l" t="t" r="r" b="b"/>
            <a:pathLst>
              <a:path w="3695700" h="2066925">
                <a:moveTo>
                  <a:pt x="0" y="1919287"/>
                </a:moveTo>
                <a:lnTo>
                  <a:pt x="0" y="147637"/>
                </a:lnTo>
                <a:lnTo>
                  <a:pt x="177" y="140384"/>
                </a:lnTo>
                <a:lnTo>
                  <a:pt x="8625" y="97907"/>
                </a:lnTo>
                <a:lnTo>
                  <a:pt x="29057" y="59682"/>
                </a:lnTo>
                <a:lnTo>
                  <a:pt x="59681" y="29058"/>
                </a:lnTo>
                <a:lnTo>
                  <a:pt x="97907" y="8626"/>
                </a:lnTo>
                <a:lnTo>
                  <a:pt x="140384" y="177"/>
                </a:lnTo>
                <a:lnTo>
                  <a:pt x="147637" y="0"/>
                </a:lnTo>
                <a:lnTo>
                  <a:pt x="3548062" y="0"/>
                </a:lnTo>
                <a:lnTo>
                  <a:pt x="3590918" y="6355"/>
                </a:lnTo>
                <a:lnTo>
                  <a:pt x="3630083" y="24881"/>
                </a:lnTo>
                <a:lnTo>
                  <a:pt x="3662188" y="53975"/>
                </a:lnTo>
                <a:lnTo>
                  <a:pt x="3684460" y="91138"/>
                </a:lnTo>
                <a:lnTo>
                  <a:pt x="3694990" y="133166"/>
                </a:lnTo>
                <a:lnTo>
                  <a:pt x="3695699" y="147637"/>
                </a:lnTo>
                <a:lnTo>
                  <a:pt x="3695699" y="1919287"/>
                </a:lnTo>
                <a:lnTo>
                  <a:pt x="3689343" y="1962144"/>
                </a:lnTo>
                <a:lnTo>
                  <a:pt x="3670817" y="2001309"/>
                </a:lnTo>
                <a:lnTo>
                  <a:pt x="3641722" y="2033413"/>
                </a:lnTo>
                <a:lnTo>
                  <a:pt x="3604559" y="2055685"/>
                </a:lnTo>
                <a:lnTo>
                  <a:pt x="3562533" y="2066215"/>
                </a:lnTo>
                <a:lnTo>
                  <a:pt x="3548062" y="2066924"/>
                </a:lnTo>
                <a:lnTo>
                  <a:pt x="147637" y="2066924"/>
                </a:lnTo>
                <a:lnTo>
                  <a:pt x="104779" y="2060568"/>
                </a:lnTo>
                <a:lnTo>
                  <a:pt x="65613" y="2042041"/>
                </a:lnTo>
                <a:lnTo>
                  <a:pt x="33510" y="2012947"/>
                </a:lnTo>
                <a:lnTo>
                  <a:pt x="11237" y="1975784"/>
                </a:lnTo>
                <a:lnTo>
                  <a:pt x="709" y="1933757"/>
                </a:lnTo>
                <a:lnTo>
                  <a:pt x="0" y="1919287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82124" y="4581524"/>
            <a:ext cx="3705224" cy="244157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598024" y="4673218"/>
            <a:ext cx="2712085" cy="117856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800" spc="65" dirty="0">
                <a:solidFill>
                  <a:srgbClr val="6D6A78"/>
                </a:solidFill>
                <a:latin typeface="Tahoma"/>
                <a:cs typeface="Tahoma"/>
              </a:rPr>
              <a:t>Gate</a:t>
            </a:r>
            <a:r>
              <a:rPr sz="1800" spc="-5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6D6A78"/>
                </a:solidFill>
                <a:latin typeface="Tahoma"/>
                <a:cs typeface="Tahoma"/>
              </a:rPr>
              <a:t>operators</a:t>
            </a:r>
            <a:endParaRPr sz="1800" dirty="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690"/>
              </a:spcBef>
            </a:pPr>
            <a:r>
              <a:rPr sz="1500" spc="55" dirty="0">
                <a:solidFill>
                  <a:srgbClr val="6D6A78"/>
                </a:solidFill>
                <a:latin typeface="Tahoma"/>
                <a:cs typeface="Tahoma"/>
              </a:rPr>
              <a:t>Control</a:t>
            </a:r>
            <a:r>
              <a:rPr sz="1500" spc="5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D6A78"/>
                </a:solidFill>
                <a:latin typeface="Tahoma"/>
                <a:cs typeface="Tahoma"/>
              </a:rPr>
              <a:t>entry</a:t>
            </a:r>
            <a:r>
              <a:rPr sz="1500" spc="5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6D6A78"/>
                </a:solidFill>
                <a:latin typeface="Tahoma"/>
                <a:cs typeface="Tahoma"/>
              </a:rPr>
              <a:t>and</a:t>
            </a:r>
            <a:r>
              <a:rPr sz="1500" spc="5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D6A78"/>
                </a:solidFill>
                <a:latin typeface="Tahoma"/>
                <a:cs typeface="Tahoma"/>
              </a:rPr>
              <a:t>exit</a:t>
            </a:r>
            <a:r>
              <a:rPr sz="1500" spc="5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6D6A78"/>
                </a:solidFill>
                <a:latin typeface="Tahoma"/>
                <a:cs typeface="Tahoma"/>
              </a:rPr>
              <a:t>access, </a:t>
            </a:r>
            <a:r>
              <a:rPr sz="1500" spc="60" dirty="0">
                <a:solidFill>
                  <a:srgbClr val="6D6A78"/>
                </a:solidFill>
                <a:latin typeface="Tahoma"/>
                <a:cs typeface="Tahoma"/>
              </a:rPr>
              <a:t>verify</a:t>
            </a:r>
            <a:r>
              <a:rPr sz="1500" spc="-4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6D6A78"/>
                </a:solidFill>
                <a:latin typeface="Tahoma"/>
                <a:cs typeface="Tahoma"/>
              </a:rPr>
              <a:t>vehicles,</a:t>
            </a:r>
            <a:r>
              <a:rPr sz="1500" spc="-4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6D6A78"/>
                </a:solidFill>
                <a:latin typeface="Tahoma"/>
                <a:cs typeface="Tahoma"/>
              </a:rPr>
              <a:t>and</a:t>
            </a:r>
            <a:r>
              <a:rPr sz="1500" spc="-4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6D6A78"/>
                </a:solidFill>
                <a:latin typeface="Tahoma"/>
                <a:cs typeface="Tahoma"/>
              </a:rPr>
              <a:t>handle</a:t>
            </a:r>
            <a:endParaRPr sz="15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500" spc="40" dirty="0">
                <a:solidFill>
                  <a:srgbClr val="6D6A78"/>
                </a:solidFill>
                <a:latin typeface="Tahoma"/>
                <a:cs typeface="Tahoma"/>
              </a:rPr>
              <a:t>incidents.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386885" y="4586286"/>
            <a:ext cx="3695700" cy="2066925"/>
          </a:xfrm>
          <a:custGeom>
            <a:avLst/>
            <a:gdLst/>
            <a:ahLst/>
            <a:cxnLst/>
            <a:rect l="l" t="t" r="r" b="b"/>
            <a:pathLst>
              <a:path w="3695700" h="2066925">
                <a:moveTo>
                  <a:pt x="0" y="1919287"/>
                </a:moveTo>
                <a:lnTo>
                  <a:pt x="0" y="147637"/>
                </a:lnTo>
                <a:lnTo>
                  <a:pt x="176" y="140384"/>
                </a:lnTo>
                <a:lnTo>
                  <a:pt x="8625" y="97907"/>
                </a:lnTo>
                <a:lnTo>
                  <a:pt x="29057" y="59682"/>
                </a:lnTo>
                <a:lnTo>
                  <a:pt x="59681" y="29058"/>
                </a:lnTo>
                <a:lnTo>
                  <a:pt x="97906" y="8626"/>
                </a:lnTo>
                <a:lnTo>
                  <a:pt x="140384" y="177"/>
                </a:lnTo>
                <a:lnTo>
                  <a:pt x="147637" y="0"/>
                </a:lnTo>
                <a:lnTo>
                  <a:pt x="3548062" y="0"/>
                </a:lnTo>
                <a:lnTo>
                  <a:pt x="3590917" y="6355"/>
                </a:lnTo>
                <a:lnTo>
                  <a:pt x="3630083" y="24881"/>
                </a:lnTo>
                <a:lnTo>
                  <a:pt x="3662187" y="53975"/>
                </a:lnTo>
                <a:lnTo>
                  <a:pt x="3684459" y="91138"/>
                </a:lnTo>
                <a:lnTo>
                  <a:pt x="3694989" y="133166"/>
                </a:lnTo>
                <a:lnTo>
                  <a:pt x="3695699" y="147637"/>
                </a:lnTo>
                <a:lnTo>
                  <a:pt x="3695699" y="1919287"/>
                </a:lnTo>
                <a:lnTo>
                  <a:pt x="3689342" y="1962144"/>
                </a:lnTo>
                <a:lnTo>
                  <a:pt x="3670816" y="2001309"/>
                </a:lnTo>
                <a:lnTo>
                  <a:pt x="3641722" y="2033413"/>
                </a:lnTo>
                <a:lnTo>
                  <a:pt x="3604558" y="2055685"/>
                </a:lnTo>
                <a:lnTo>
                  <a:pt x="3562532" y="2066215"/>
                </a:lnTo>
                <a:lnTo>
                  <a:pt x="3548062" y="2066924"/>
                </a:lnTo>
                <a:lnTo>
                  <a:pt x="147637" y="2066924"/>
                </a:lnTo>
                <a:lnTo>
                  <a:pt x="104778" y="2060568"/>
                </a:lnTo>
                <a:lnTo>
                  <a:pt x="65614" y="2042041"/>
                </a:lnTo>
                <a:lnTo>
                  <a:pt x="33510" y="2012947"/>
                </a:lnTo>
                <a:lnTo>
                  <a:pt x="11237" y="1975784"/>
                </a:lnTo>
                <a:lnTo>
                  <a:pt x="708" y="1933757"/>
                </a:lnTo>
                <a:lnTo>
                  <a:pt x="0" y="1919287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5714" rIns="0" bIns="0" rtlCol="0">
            <a:spAutoFit/>
          </a:bodyPr>
          <a:lstStyle/>
          <a:p>
            <a:pPr marL="812165">
              <a:lnSpc>
                <a:spcPts val="5280"/>
              </a:lnSpc>
              <a:spcBef>
                <a:spcPts val="100"/>
              </a:spcBef>
            </a:pPr>
            <a:r>
              <a:rPr sz="4800" spc="229" dirty="0"/>
              <a:t>Core</a:t>
            </a:r>
            <a:r>
              <a:rPr sz="4800" spc="-260" dirty="0"/>
              <a:t> </a:t>
            </a:r>
            <a:r>
              <a:rPr sz="4800" spc="100" dirty="0"/>
              <a:t>features</a:t>
            </a:r>
            <a:endParaRPr sz="4800"/>
          </a:p>
          <a:p>
            <a:pPr marL="812165">
              <a:lnSpc>
                <a:spcPts val="5280"/>
              </a:lnSpc>
            </a:pPr>
            <a:r>
              <a:rPr sz="4800" spc="120" dirty="0">
                <a:solidFill>
                  <a:srgbClr val="8E9097"/>
                </a:solidFill>
              </a:rPr>
              <a:t>What</a:t>
            </a:r>
            <a:r>
              <a:rPr sz="4800" spc="-260" dirty="0">
                <a:solidFill>
                  <a:srgbClr val="8E9097"/>
                </a:solidFill>
              </a:rPr>
              <a:t> </a:t>
            </a:r>
            <a:r>
              <a:rPr sz="4800" spc="85" dirty="0">
                <a:solidFill>
                  <a:srgbClr val="8E9097"/>
                </a:solidFill>
              </a:rPr>
              <a:t>the</a:t>
            </a:r>
            <a:r>
              <a:rPr sz="4800" spc="-260" dirty="0">
                <a:solidFill>
                  <a:srgbClr val="8E9097"/>
                </a:solidFill>
              </a:rPr>
              <a:t> </a:t>
            </a:r>
            <a:r>
              <a:rPr sz="4800" spc="180" dirty="0">
                <a:solidFill>
                  <a:srgbClr val="8E9097"/>
                </a:solidFill>
              </a:rPr>
              <a:t>system</a:t>
            </a:r>
            <a:r>
              <a:rPr sz="4800" spc="-254" dirty="0">
                <a:solidFill>
                  <a:srgbClr val="8E9097"/>
                </a:solidFill>
              </a:rPr>
              <a:t> </a:t>
            </a:r>
            <a:r>
              <a:rPr sz="4800" spc="250" dirty="0">
                <a:solidFill>
                  <a:srgbClr val="8E9097"/>
                </a:solidFill>
              </a:rPr>
              <a:t>can</a:t>
            </a:r>
            <a:r>
              <a:rPr sz="4800" spc="-260" dirty="0">
                <a:solidFill>
                  <a:srgbClr val="8E9097"/>
                </a:solidFill>
              </a:rPr>
              <a:t> </a:t>
            </a:r>
            <a:r>
              <a:rPr sz="4800" spc="204" dirty="0">
                <a:solidFill>
                  <a:srgbClr val="8E9097"/>
                </a:solidFill>
              </a:rPr>
              <a:t>do</a:t>
            </a:r>
            <a:endParaRPr sz="4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6824" y="3028949"/>
            <a:ext cx="3800474" cy="21716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82724" y="3120644"/>
            <a:ext cx="2940050" cy="94996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800" spc="50" dirty="0">
                <a:solidFill>
                  <a:srgbClr val="4E4D60"/>
                </a:solidFill>
                <a:latin typeface="Tahoma"/>
                <a:cs typeface="Tahoma"/>
              </a:rPr>
              <a:t>Entry</a:t>
            </a:r>
            <a:r>
              <a:rPr sz="1800" spc="-50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E4D60"/>
                </a:solidFill>
                <a:latin typeface="Tahoma"/>
                <a:cs typeface="Tahoma"/>
              </a:rPr>
              <a:t>registration</a:t>
            </a:r>
            <a:endParaRPr sz="1800" dirty="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690"/>
              </a:spcBef>
            </a:pPr>
            <a:r>
              <a:rPr sz="1500" spc="85" dirty="0">
                <a:solidFill>
                  <a:srgbClr val="4E4D60"/>
                </a:solidFill>
                <a:latin typeface="Tahoma"/>
                <a:cs typeface="Tahoma"/>
              </a:rPr>
              <a:t>Log</a:t>
            </a:r>
            <a:r>
              <a:rPr sz="1500" spc="20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4E4D60"/>
                </a:solidFill>
                <a:latin typeface="Tahoma"/>
                <a:cs typeface="Tahoma"/>
              </a:rPr>
              <a:t>every</a:t>
            </a:r>
            <a:r>
              <a:rPr sz="1500" spc="20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4E4D60"/>
                </a:solidFill>
                <a:latin typeface="Tahoma"/>
                <a:cs typeface="Tahoma"/>
              </a:rPr>
              <a:t>vehicle</a:t>
            </a:r>
            <a:r>
              <a:rPr sz="1500" spc="20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4E4D60"/>
                </a:solidFill>
                <a:latin typeface="Tahoma"/>
                <a:cs typeface="Tahoma"/>
              </a:rPr>
              <a:t>on</a:t>
            </a:r>
            <a:r>
              <a:rPr sz="1500" spc="20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E4D60"/>
                </a:solidFill>
                <a:latin typeface="Tahoma"/>
                <a:cs typeface="Tahoma"/>
              </a:rPr>
              <a:t>arrival</a:t>
            </a:r>
            <a:r>
              <a:rPr sz="1500" spc="20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4E4D60"/>
                </a:solidFill>
                <a:latin typeface="Tahoma"/>
                <a:cs typeface="Tahoma"/>
              </a:rPr>
              <a:t>with </a:t>
            </a:r>
            <a:r>
              <a:rPr sz="1500" spc="55" dirty="0">
                <a:solidFill>
                  <a:srgbClr val="4E4D60"/>
                </a:solidFill>
                <a:latin typeface="Tahoma"/>
                <a:cs typeface="Tahoma"/>
              </a:rPr>
              <a:t>details</a:t>
            </a:r>
            <a:r>
              <a:rPr sz="1500" spc="-4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4E4D60"/>
                </a:solidFill>
                <a:latin typeface="Tahoma"/>
                <a:cs typeface="Tahoma"/>
              </a:rPr>
              <a:t>captured</a:t>
            </a:r>
            <a:r>
              <a:rPr sz="1500" spc="-40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4E4D60"/>
                </a:solidFill>
                <a:latin typeface="Tahoma"/>
                <a:cs typeface="Tahoma"/>
              </a:rPr>
              <a:t>automatically.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71587" y="3033712"/>
            <a:ext cx="3790950" cy="2162175"/>
          </a:xfrm>
          <a:custGeom>
            <a:avLst/>
            <a:gdLst/>
            <a:ahLst/>
            <a:cxnLst/>
            <a:rect l="l" t="t" r="r" b="b"/>
            <a:pathLst>
              <a:path w="3790950" h="2162175">
                <a:moveTo>
                  <a:pt x="0" y="2014537"/>
                </a:moveTo>
                <a:lnTo>
                  <a:pt x="0" y="147637"/>
                </a:lnTo>
                <a:lnTo>
                  <a:pt x="177" y="140384"/>
                </a:lnTo>
                <a:lnTo>
                  <a:pt x="8626" y="97907"/>
                </a:lnTo>
                <a:lnTo>
                  <a:pt x="29058" y="59682"/>
                </a:lnTo>
                <a:lnTo>
                  <a:pt x="59682" y="29058"/>
                </a:lnTo>
                <a:lnTo>
                  <a:pt x="97907" y="8626"/>
                </a:lnTo>
                <a:lnTo>
                  <a:pt x="140384" y="177"/>
                </a:lnTo>
                <a:lnTo>
                  <a:pt x="147637" y="0"/>
                </a:lnTo>
                <a:lnTo>
                  <a:pt x="3643312" y="0"/>
                </a:lnTo>
                <a:lnTo>
                  <a:pt x="3686169" y="6355"/>
                </a:lnTo>
                <a:lnTo>
                  <a:pt x="3725334" y="24881"/>
                </a:lnTo>
                <a:lnTo>
                  <a:pt x="3757438" y="53975"/>
                </a:lnTo>
                <a:lnTo>
                  <a:pt x="3779711" y="91138"/>
                </a:lnTo>
                <a:lnTo>
                  <a:pt x="3790240" y="133166"/>
                </a:lnTo>
                <a:lnTo>
                  <a:pt x="3790949" y="147637"/>
                </a:lnTo>
                <a:lnTo>
                  <a:pt x="3790949" y="2014537"/>
                </a:lnTo>
                <a:lnTo>
                  <a:pt x="3784593" y="2057394"/>
                </a:lnTo>
                <a:lnTo>
                  <a:pt x="3766067" y="2096560"/>
                </a:lnTo>
                <a:lnTo>
                  <a:pt x="3736973" y="2128663"/>
                </a:lnTo>
                <a:lnTo>
                  <a:pt x="3699810" y="2150935"/>
                </a:lnTo>
                <a:lnTo>
                  <a:pt x="3657783" y="2161465"/>
                </a:lnTo>
                <a:lnTo>
                  <a:pt x="3643312" y="2162174"/>
                </a:lnTo>
                <a:lnTo>
                  <a:pt x="147637" y="2162174"/>
                </a:lnTo>
                <a:lnTo>
                  <a:pt x="104779" y="2155818"/>
                </a:lnTo>
                <a:lnTo>
                  <a:pt x="65614" y="2137292"/>
                </a:lnTo>
                <a:lnTo>
                  <a:pt x="33510" y="2108198"/>
                </a:lnTo>
                <a:lnTo>
                  <a:pt x="11237" y="2071035"/>
                </a:lnTo>
                <a:lnTo>
                  <a:pt x="709" y="2029008"/>
                </a:lnTo>
                <a:lnTo>
                  <a:pt x="0" y="2014537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5424" y="3028949"/>
            <a:ext cx="3800474" cy="21716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521324" y="3120644"/>
            <a:ext cx="2761615" cy="94996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800" spc="65" dirty="0">
                <a:solidFill>
                  <a:srgbClr val="4E4D60"/>
                </a:solidFill>
                <a:latin typeface="Tahoma"/>
                <a:cs typeface="Tahoma"/>
              </a:rPr>
              <a:t>Slot</a:t>
            </a:r>
            <a:r>
              <a:rPr sz="1800" spc="-5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4E4D60"/>
                </a:solidFill>
                <a:latin typeface="Tahoma"/>
                <a:cs typeface="Tahoma"/>
              </a:rPr>
              <a:t>allocation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690"/>
              </a:spcBef>
            </a:pPr>
            <a:r>
              <a:rPr sz="1500" spc="85" dirty="0">
                <a:solidFill>
                  <a:srgbClr val="4E4D60"/>
                </a:solidFill>
                <a:latin typeface="Tahoma"/>
                <a:cs typeface="Tahoma"/>
              </a:rPr>
              <a:t>Assign</a:t>
            </a:r>
            <a:r>
              <a:rPr sz="1500" spc="6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10" dirty="0">
                <a:solidFill>
                  <a:srgbClr val="4E4D60"/>
                </a:solidFill>
                <a:latin typeface="Tahoma"/>
                <a:cs typeface="Tahoma"/>
              </a:rPr>
              <a:t>available</a:t>
            </a:r>
            <a:r>
              <a:rPr sz="1500" spc="6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4E4D60"/>
                </a:solidFill>
                <a:latin typeface="Tahoma"/>
                <a:cs typeface="Tahoma"/>
              </a:rPr>
              <a:t>parking</a:t>
            </a:r>
            <a:r>
              <a:rPr sz="1500" spc="6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4E4D60"/>
                </a:solidFill>
                <a:latin typeface="Tahoma"/>
                <a:cs typeface="Tahoma"/>
              </a:rPr>
              <a:t>slots </a:t>
            </a:r>
            <a:r>
              <a:rPr sz="1500" spc="45" dirty="0">
                <a:solidFill>
                  <a:srgbClr val="4E4D60"/>
                </a:solidFill>
                <a:latin typeface="Tahoma"/>
                <a:cs typeface="Tahoma"/>
              </a:rPr>
              <a:t>automatically</a:t>
            </a:r>
            <a:r>
              <a:rPr sz="1500" spc="-30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4E4D60"/>
                </a:solidFill>
                <a:latin typeface="Tahoma"/>
                <a:cs typeface="Tahoma"/>
              </a:rPr>
              <a:t>on</a:t>
            </a:r>
            <a:r>
              <a:rPr sz="1500" spc="-30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4E4D60"/>
                </a:solidFill>
                <a:latin typeface="Tahoma"/>
                <a:cs typeface="Tahoma"/>
              </a:rPr>
              <a:t>vehicle</a:t>
            </a:r>
            <a:r>
              <a:rPr sz="1500" spc="-2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4E4D60"/>
                </a:solidFill>
                <a:latin typeface="Tahoma"/>
                <a:cs typeface="Tahoma"/>
              </a:rPr>
              <a:t>entry.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10186" y="3033712"/>
            <a:ext cx="3790950" cy="2162175"/>
          </a:xfrm>
          <a:custGeom>
            <a:avLst/>
            <a:gdLst/>
            <a:ahLst/>
            <a:cxnLst/>
            <a:rect l="l" t="t" r="r" b="b"/>
            <a:pathLst>
              <a:path w="3790950" h="2162175">
                <a:moveTo>
                  <a:pt x="0" y="2014537"/>
                </a:moveTo>
                <a:lnTo>
                  <a:pt x="0" y="147637"/>
                </a:lnTo>
                <a:lnTo>
                  <a:pt x="177" y="140384"/>
                </a:lnTo>
                <a:lnTo>
                  <a:pt x="8625" y="97907"/>
                </a:lnTo>
                <a:lnTo>
                  <a:pt x="29057" y="59682"/>
                </a:lnTo>
                <a:lnTo>
                  <a:pt x="59681" y="29058"/>
                </a:lnTo>
                <a:lnTo>
                  <a:pt x="97907" y="8626"/>
                </a:lnTo>
                <a:lnTo>
                  <a:pt x="140384" y="177"/>
                </a:lnTo>
                <a:lnTo>
                  <a:pt x="147637" y="0"/>
                </a:lnTo>
                <a:lnTo>
                  <a:pt x="3643312" y="0"/>
                </a:lnTo>
                <a:lnTo>
                  <a:pt x="3686168" y="6355"/>
                </a:lnTo>
                <a:lnTo>
                  <a:pt x="3725333" y="24881"/>
                </a:lnTo>
                <a:lnTo>
                  <a:pt x="3757437" y="53975"/>
                </a:lnTo>
                <a:lnTo>
                  <a:pt x="3779709" y="91138"/>
                </a:lnTo>
                <a:lnTo>
                  <a:pt x="3790239" y="133166"/>
                </a:lnTo>
                <a:lnTo>
                  <a:pt x="3790949" y="147637"/>
                </a:lnTo>
                <a:lnTo>
                  <a:pt x="3790949" y="2014537"/>
                </a:lnTo>
                <a:lnTo>
                  <a:pt x="3784592" y="2057394"/>
                </a:lnTo>
                <a:lnTo>
                  <a:pt x="3766066" y="2096560"/>
                </a:lnTo>
                <a:lnTo>
                  <a:pt x="3736972" y="2128663"/>
                </a:lnTo>
                <a:lnTo>
                  <a:pt x="3699809" y="2150935"/>
                </a:lnTo>
                <a:lnTo>
                  <a:pt x="3657782" y="2161465"/>
                </a:lnTo>
                <a:lnTo>
                  <a:pt x="3643312" y="2162174"/>
                </a:lnTo>
                <a:lnTo>
                  <a:pt x="147637" y="2162174"/>
                </a:lnTo>
                <a:lnTo>
                  <a:pt x="104779" y="2155818"/>
                </a:lnTo>
                <a:lnTo>
                  <a:pt x="65614" y="2137292"/>
                </a:lnTo>
                <a:lnTo>
                  <a:pt x="33510" y="2108198"/>
                </a:lnTo>
                <a:lnTo>
                  <a:pt x="11237" y="2071035"/>
                </a:lnTo>
                <a:lnTo>
                  <a:pt x="709" y="2029008"/>
                </a:lnTo>
                <a:lnTo>
                  <a:pt x="0" y="2014537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4024" y="3028949"/>
            <a:ext cx="3800474" cy="21716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559924" y="3120644"/>
            <a:ext cx="3015615" cy="94996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800" spc="80" dirty="0">
                <a:solidFill>
                  <a:srgbClr val="4E4D60"/>
                </a:solidFill>
                <a:latin typeface="Tahoma"/>
                <a:cs typeface="Tahoma"/>
              </a:rPr>
              <a:t>Vehicle</a:t>
            </a:r>
            <a:r>
              <a:rPr sz="1800" spc="-5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800" spc="80" dirty="0">
                <a:solidFill>
                  <a:srgbClr val="4E4D60"/>
                </a:solidFill>
                <a:latin typeface="Tahoma"/>
                <a:cs typeface="Tahoma"/>
              </a:rPr>
              <a:t>types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690"/>
              </a:spcBef>
            </a:pPr>
            <a:r>
              <a:rPr sz="1500" spc="70" dirty="0">
                <a:solidFill>
                  <a:srgbClr val="4E4D60"/>
                </a:solidFill>
                <a:latin typeface="Tahoma"/>
                <a:cs typeface="Tahoma"/>
              </a:rPr>
              <a:t>Supports</a:t>
            </a:r>
            <a:r>
              <a:rPr sz="1500" spc="-40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4E4D60"/>
                </a:solidFill>
                <a:latin typeface="Tahoma"/>
                <a:cs typeface="Tahoma"/>
              </a:rPr>
              <a:t>Cars,</a:t>
            </a:r>
            <a:r>
              <a:rPr sz="1500" spc="-3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4E4D60"/>
                </a:solidFill>
                <a:latin typeface="Tahoma"/>
                <a:cs typeface="Tahoma"/>
              </a:rPr>
              <a:t>Bikes,</a:t>
            </a:r>
            <a:r>
              <a:rPr sz="1500" spc="-40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4E4D60"/>
                </a:solidFill>
                <a:latin typeface="Tahoma"/>
                <a:cs typeface="Tahoma"/>
              </a:rPr>
              <a:t>and</a:t>
            </a:r>
            <a:r>
              <a:rPr sz="1500" spc="-3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4E4D60"/>
                </a:solidFill>
                <a:latin typeface="Tahoma"/>
                <a:cs typeface="Tahoma"/>
              </a:rPr>
              <a:t>Trucks </a:t>
            </a:r>
            <a:r>
              <a:rPr sz="1500" dirty="0">
                <a:solidFill>
                  <a:srgbClr val="4E4D60"/>
                </a:solidFill>
                <a:latin typeface="Tahoma"/>
                <a:cs typeface="Tahoma"/>
              </a:rPr>
              <a:t>with</a:t>
            </a:r>
            <a:r>
              <a:rPr sz="1500" spc="10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90" dirty="0">
                <a:solidFill>
                  <a:srgbClr val="4E4D60"/>
                </a:solidFill>
                <a:latin typeface="Tahoma"/>
                <a:cs typeface="Tahoma"/>
              </a:rPr>
              <a:t>type-specific</a:t>
            </a:r>
            <a:r>
              <a:rPr sz="1500" spc="10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4E4D60"/>
                </a:solidFill>
                <a:latin typeface="Tahoma"/>
                <a:cs typeface="Tahoma"/>
              </a:rPr>
              <a:t>slot</a:t>
            </a:r>
            <a:r>
              <a:rPr sz="1500" spc="10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4E4D60"/>
                </a:solidFill>
                <a:latin typeface="Tahoma"/>
                <a:cs typeface="Tahoma"/>
              </a:rPr>
              <a:t>rules.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348785" y="3033712"/>
            <a:ext cx="3790950" cy="2162175"/>
          </a:xfrm>
          <a:custGeom>
            <a:avLst/>
            <a:gdLst/>
            <a:ahLst/>
            <a:cxnLst/>
            <a:rect l="l" t="t" r="r" b="b"/>
            <a:pathLst>
              <a:path w="3790950" h="2162175">
                <a:moveTo>
                  <a:pt x="0" y="2014537"/>
                </a:moveTo>
                <a:lnTo>
                  <a:pt x="0" y="147637"/>
                </a:lnTo>
                <a:lnTo>
                  <a:pt x="176" y="140384"/>
                </a:lnTo>
                <a:lnTo>
                  <a:pt x="8625" y="97907"/>
                </a:lnTo>
                <a:lnTo>
                  <a:pt x="29057" y="59682"/>
                </a:lnTo>
                <a:lnTo>
                  <a:pt x="59681" y="29058"/>
                </a:lnTo>
                <a:lnTo>
                  <a:pt x="97906" y="8626"/>
                </a:lnTo>
                <a:lnTo>
                  <a:pt x="140384" y="177"/>
                </a:lnTo>
                <a:lnTo>
                  <a:pt x="147637" y="0"/>
                </a:lnTo>
                <a:lnTo>
                  <a:pt x="3643312" y="0"/>
                </a:lnTo>
                <a:lnTo>
                  <a:pt x="3686167" y="6355"/>
                </a:lnTo>
                <a:lnTo>
                  <a:pt x="3725333" y="24881"/>
                </a:lnTo>
                <a:lnTo>
                  <a:pt x="3757437" y="53975"/>
                </a:lnTo>
                <a:lnTo>
                  <a:pt x="3779710" y="91138"/>
                </a:lnTo>
                <a:lnTo>
                  <a:pt x="3790239" y="133166"/>
                </a:lnTo>
                <a:lnTo>
                  <a:pt x="3790949" y="147637"/>
                </a:lnTo>
                <a:lnTo>
                  <a:pt x="3790949" y="2014537"/>
                </a:lnTo>
                <a:lnTo>
                  <a:pt x="3784593" y="2057394"/>
                </a:lnTo>
                <a:lnTo>
                  <a:pt x="3766067" y="2096560"/>
                </a:lnTo>
                <a:lnTo>
                  <a:pt x="3736972" y="2128663"/>
                </a:lnTo>
                <a:lnTo>
                  <a:pt x="3699808" y="2150935"/>
                </a:lnTo>
                <a:lnTo>
                  <a:pt x="3657782" y="2161465"/>
                </a:lnTo>
                <a:lnTo>
                  <a:pt x="3643312" y="2162174"/>
                </a:lnTo>
                <a:lnTo>
                  <a:pt x="147637" y="2162174"/>
                </a:lnTo>
                <a:lnTo>
                  <a:pt x="104778" y="2155818"/>
                </a:lnTo>
                <a:lnTo>
                  <a:pt x="65613" y="2137292"/>
                </a:lnTo>
                <a:lnTo>
                  <a:pt x="33509" y="2108198"/>
                </a:lnTo>
                <a:lnTo>
                  <a:pt x="11237" y="2071035"/>
                </a:lnTo>
                <a:lnTo>
                  <a:pt x="708" y="2029008"/>
                </a:lnTo>
                <a:lnTo>
                  <a:pt x="0" y="2014537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6824" y="5400674"/>
            <a:ext cx="3800474" cy="21716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482724" y="5492368"/>
            <a:ext cx="2849245" cy="94996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800" spc="65" dirty="0">
                <a:solidFill>
                  <a:srgbClr val="4E4D60"/>
                </a:solidFill>
                <a:latin typeface="Tahoma"/>
                <a:cs typeface="Tahoma"/>
              </a:rPr>
              <a:t>Time</a:t>
            </a:r>
            <a:r>
              <a:rPr sz="1800" spc="-50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800" spc="65" dirty="0">
                <a:solidFill>
                  <a:srgbClr val="4E4D60"/>
                </a:solidFill>
                <a:latin typeface="Tahoma"/>
                <a:cs typeface="Tahoma"/>
              </a:rPr>
              <a:t>and</a:t>
            </a:r>
            <a:r>
              <a:rPr sz="1800" spc="-4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800" spc="65" dirty="0">
                <a:solidFill>
                  <a:srgbClr val="4E4D60"/>
                </a:solidFill>
                <a:latin typeface="Tahoma"/>
                <a:cs typeface="Tahoma"/>
              </a:rPr>
              <a:t>fees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690"/>
              </a:spcBef>
            </a:pPr>
            <a:r>
              <a:rPr sz="1500" spc="60" dirty="0">
                <a:solidFill>
                  <a:srgbClr val="4E4D60"/>
                </a:solidFill>
                <a:latin typeface="Tahoma"/>
                <a:cs typeface="Tahoma"/>
              </a:rPr>
              <a:t>Track</a:t>
            </a:r>
            <a:r>
              <a:rPr sz="1500" spc="5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E4D60"/>
                </a:solidFill>
                <a:latin typeface="Tahoma"/>
                <a:cs typeface="Tahoma"/>
              </a:rPr>
              <a:t>entry</a:t>
            </a:r>
            <a:r>
              <a:rPr sz="1500" spc="5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4E4D60"/>
                </a:solidFill>
                <a:latin typeface="Tahoma"/>
                <a:cs typeface="Tahoma"/>
              </a:rPr>
              <a:t>and</a:t>
            </a:r>
            <a:r>
              <a:rPr sz="1500" spc="5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E4D60"/>
                </a:solidFill>
                <a:latin typeface="Tahoma"/>
                <a:cs typeface="Tahoma"/>
              </a:rPr>
              <a:t>exit</a:t>
            </a:r>
            <a:r>
              <a:rPr sz="1500" spc="5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E4D60"/>
                </a:solidFill>
                <a:latin typeface="Tahoma"/>
                <a:cs typeface="Tahoma"/>
              </a:rPr>
              <a:t>time,</a:t>
            </a:r>
            <a:r>
              <a:rPr sz="1500" spc="60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4E4D60"/>
                </a:solidFill>
                <a:latin typeface="Tahoma"/>
                <a:cs typeface="Tahoma"/>
              </a:rPr>
              <a:t>then </a:t>
            </a:r>
            <a:r>
              <a:rPr sz="1500" spc="65" dirty="0">
                <a:solidFill>
                  <a:srgbClr val="4E4D60"/>
                </a:solidFill>
                <a:latin typeface="Tahoma"/>
                <a:cs typeface="Tahoma"/>
              </a:rPr>
              <a:t>calculate</a:t>
            </a:r>
            <a:r>
              <a:rPr sz="1500" spc="-2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E4D60"/>
                </a:solidFill>
                <a:latin typeface="Tahoma"/>
                <a:cs typeface="Tahoma"/>
              </a:rPr>
              <a:t>the</a:t>
            </a:r>
            <a:r>
              <a:rPr sz="1500" spc="-20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4E4D60"/>
                </a:solidFill>
                <a:latin typeface="Tahoma"/>
                <a:cs typeface="Tahoma"/>
              </a:rPr>
              <a:t>parking</a:t>
            </a:r>
            <a:r>
              <a:rPr sz="1500" spc="-20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4E4D60"/>
                </a:solidFill>
                <a:latin typeface="Tahoma"/>
                <a:cs typeface="Tahoma"/>
              </a:rPr>
              <a:t>fee</a:t>
            </a:r>
            <a:r>
              <a:rPr sz="1500" spc="-20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4E4D60"/>
                </a:solidFill>
                <a:latin typeface="Tahoma"/>
                <a:cs typeface="Tahoma"/>
              </a:rPr>
              <a:t>owed.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71587" y="5405436"/>
            <a:ext cx="3790950" cy="2162175"/>
          </a:xfrm>
          <a:custGeom>
            <a:avLst/>
            <a:gdLst/>
            <a:ahLst/>
            <a:cxnLst/>
            <a:rect l="l" t="t" r="r" b="b"/>
            <a:pathLst>
              <a:path w="3790950" h="2162175">
                <a:moveTo>
                  <a:pt x="0" y="2014537"/>
                </a:moveTo>
                <a:lnTo>
                  <a:pt x="0" y="147637"/>
                </a:lnTo>
                <a:lnTo>
                  <a:pt x="177" y="140384"/>
                </a:lnTo>
                <a:lnTo>
                  <a:pt x="8626" y="97907"/>
                </a:lnTo>
                <a:lnTo>
                  <a:pt x="29058" y="59681"/>
                </a:lnTo>
                <a:lnTo>
                  <a:pt x="59682" y="29057"/>
                </a:lnTo>
                <a:lnTo>
                  <a:pt x="97907" y="8625"/>
                </a:lnTo>
                <a:lnTo>
                  <a:pt x="140384" y="177"/>
                </a:lnTo>
                <a:lnTo>
                  <a:pt x="147637" y="0"/>
                </a:lnTo>
                <a:lnTo>
                  <a:pt x="3643312" y="0"/>
                </a:lnTo>
                <a:lnTo>
                  <a:pt x="3686169" y="6355"/>
                </a:lnTo>
                <a:lnTo>
                  <a:pt x="3725334" y="24880"/>
                </a:lnTo>
                <a:lnTo>
                  <a:pt x="3757438" y="53975"/>
                </a:lnTo>
                <a:lnTo>
                  <a:pt x="3779711" y="91138"/>
                </a:lnTo>
                <a:lnTo>
                  <a:pt x="3790240" y="133166"/>
                </a:lnTo>
                <a:lnTo>
                  <a:pt x="3790949" y="147637"/>
                </a:lnTo>
                <a:lnTo>
                  <a:pt x="3790949" y="2014537"/>
                </a:lnTo>
                <a:lnTo>
                  <a:pt x="3784593" y="2057394"/>
                </a:lnTo>
                <a:lnTo>
                  <a:pt x="3766067" y="2096559"/>
                </a:lnTo>
                <a:lnTo>
                  <a:pt x="3736973" y="2128663"/>
                </a:lnTo>
                <a:lnTo>
                  <a:pt x="3699810" y="2150936"/>
                </a:lnTo>
                <a:lnTo>
                  <a:pt x="3657783" y="2161465"/>
                </a:lnTo>
                <a:lnTo>
                  <a:pt x="3643312" y="2162174"/>
                </a:lnTo>
                <a:lnTo>
                  <a:pt x="147637" y="2162174"/>
                </a:lnTo>
                <a:lnTo>
                  <a:pt x="104779" y="2155818"/>
                </a:lnTo>
                <a:lnTo>
                  <a:pt x="65614" y="2137293"/>
                </a:lnTo>
                <a:lnTo>
                  <a:pt x="33510" y="2108198"/>
                </a:lnTo>
                <a:lnTo>
                  <a:pt x="11237" y="2071034"/>
                </a:lnTo>
                <a:lnTo>
                  <a:pt x="709" y="2029008"/>
                </a:lnTo>
                <a:lnTo>
                  <a:pt x="0" y="2014537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14949" y="5400674"/>
            <a:ext cx="3800474" cy="217169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530849" y="5492368"/>
            <a:ext cx="3153410" cy="94996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800" spc="65" dirty="0">
                <a:solidFill>
                  <a:srgbClr val="4E4D60"/>
                </a:solidFill>
                <a:latin typeface="Tahoma"/>
                <a:cs typeface="Tahoma"/>
              </a:rPr>
              <a:t>Slot</a:t>
            </a:r>
            <a:r>
              <a:rPr sz="1800" spc="-5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E4D60"/>
                </a:solidFill>
                <a:latin typeface="Tahoma"/>
                <a:cs typeface="Tahoma"/>
              </a:rPr>
              <a:t>availability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690"/>
              </a:spcBef>
            </a:pPr>
            <a:r>
              <a:rPr sz="1500" spc="60" dirty="0">
                <a:solidFill>
                  <a:srgbClr val="4E4D60"/>
                </a:solidFill>
                <a:latin typeface="Tahoma"/>
                <a:cs typeface="Tahoma"/>
              </a:rPr>
              <a:t>Display</a:t>
            </a:r>
            <a:r>
              <a:rPr sz="1500" dirty="0">
                <a:solidFill>
                  <a:srgbClr val="4E4D60"/>
                </a:solidFill>
                <a:latin typeface="Tahoma"/>
                <a:cs typeface="Tahoma"/>
              </a:rPr>
              <a:t> real-</a:t>
            </a:r>
            <a:r>
              <a:rPr sz="1500" spc="55" dirty="0">
                <a:solidFill>
                  <a:srgbClr val="4E4D60"/>
                </a:solidFill>
                <a:latin typeface="Tahoma"/>
                <a:cs typeface="Tahoma"/>
              </a:rPr>
              <a:t>time</a:t>
            </a:r>
            <a:r>
              <a:rPr sz="1500" spc="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4E4D60"/>
                </a:solidFill>
                <a:latin typeface="Tahoma"/>
                <a:cs typeface="Tahoma"/>
              </a:rPr>
              <a:t>count</a:t>
            </a:r>
            <a:r>
              <a:rPr sz="1500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4E4D60"/>
                </a:solidFill>
                <a:latin typeface="Tahoma"/>
                <a:cs typeface="Tahoma"/>
              </a:rPr>
              <a:t>of</a:t>
            </a:r>
            <a:r>
              <a:rPr sz="1500" spc="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4E4D60"/>
                </a:solidFill>
                <a:latin typeface="Tahoma"/>
                <a:cs typeface="Tahoma"/>
              </a:rPr>
              <a:t>free</a:t>
            </a:r>
            <a:r>
              <a:rPr sz="1500" spc="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40" dirty="0">
                <a:solidFill>
                  <a:srgbClr val="4E4D60"/>
                </a:solidFill>
                <a:latin typeface="Tahoma"/>
                <a:cs typeface="Tahoma"/>
              </a:rPr>
              <a:t>and </a:t>
            </a:r>
            <a:r>
              <a:rPr sz="1500" spc="90" dirty="0">
                <a:solidFill>
                  <a:srgbClr val="4E4D60"/>
                </a:solidFill>
                <a:latin typeface="Tahoma"/>
                <a:cs typeface="Tahoma"/>
              </a:rPr>
              <a:t>occupied</a:t>
            </a:r>
            <a:r>
              <a:rPr sz="1500" spc="-20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4E4D60"/>
                </a:solidFill>
                <a:latin typeface="Tahoma"/>
                <a:cs typeface="Tahoma"/>
              </a:rPr>
              <a:t>slots</a:t>
            </a:r>
            <a:r>
              <a:rPr sz="1500" spc="-20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E4D60"/>
                </a:solidFill>
                <a:latin typeface="Tahoma"/>
                <a:cs typeface="Tahoma"/>
              </a:rPr>
              <a:t>at</a:t>
            </a:r>
            <a:r>
              <a:rPr sz="1500" spc="-1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E4D60"/>
                </a:solidFill>
                <a:latin typeface="Tahoma"/>
                <a:cs typeface="Tahoma"/>
              </a:rPr>
              <a:t>a</a:t>
            </a:r>
            <a:r>
              <a:rPr sz="1500" spc="-20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4E4D60"/>
                </a:solidFill>
                <a:latin typeface="Tahoma"/>
                <a:cs typeface="Tahoma"/>
              </a:rPr>
              <a:t>glance.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319711" y="5405436"/>
            <a:ext cx="3790950" cy="2162175"/>
          </a:xfrm>
          <a:custGeom>
            <a:avLst/>
            <a:gdLst/>
            <a:ahLst/>
            <a:cxnLst/>
            <a:rect l="l" t="t" r="r" b="b"/>
            <a:pathLst>
              <a:path w="3790950" h="2162175">
                <a:moveTo>
                  <a:pt x="0" y="2014537"/>
                </a:moveTo>
                <a:lnTo>
                  <a:pt x="0" y="147637"/>
                </a:lnTo>
                <a:lnTo>
                  <a:pt x="177" y="140384"/>
                </a:lnTo>
                <a:lnTo>
                  <a:pt x="8625" y="97907"/>
                </a:lnTo>
                <a:lnTo>
                  <a:pt x="29057" y="59681"/>
                </a:lnTo>
                <a:lnTo>
                  <a:pt x="59681" y="29057"/>
                </a:lnTo>
                <a:lnTo>
                  <a:pt x="97907" y="8625"/>
                </a:lnTo>
                <a:lnTo>
                  <a:pt x="140384" y="177"/>
                </a:lnTo>
                <a:lnTo>
                  <a:pt x="147637" y="0"/>
                </a:lnTo>
                <a:lnTo>
                  <a:pt x="3643312" y="0"/>
                </a:lnTo>
                <a:lnTo>
                  <a:pt x="3686168" y="6355"/>
                </a:lnTo>
                <a:lnTo>
                  <a:pt x="3725333" y="24880"/>
                </a:lnTo>
                <a:lnTo>
                  <a:pt x="3757437" y="53975"/>
                </a:lnTo>
                <a:lnTo>
                  <a:pt x="3779710" y="91138"/>
                </a:lnTo>
                <a:lnTo>
                  <a:pt x="3790239" y="133166"/>
                </a:lnTo>
                <a:lnTo>
                  <a:pt x="3790949" y="147637"/>
                </a:lnTo>
                <a:lnTo>
                  <a:pt x="3790949" y="2014537"/>
                </a:lnTo>
                <a:lnTo>
                  <a:pt x="3784592" y="2057394"/>
                </a:lnTo>
                <a:lnTo>
                  <a:pt x="3766066" y="2096559"/>
                </a:lnTo>
                <a:lnTo>
                  <a:pt x="3736972" y="2128663"/>
                </a:lnTo>
                <a:lnTo>
                  <a:pt x="3699809" y="2150936"/>
                </a:lnTo>
                <a:lnTo>
                  <a:pt x="3657783" y="2161465"/>
                </a:lnTo>
                <a:lnTo>
                  <a:pt x="3643312" y="2162174"/>
                </a:lnTo>
                <a:lnTo>
                  <a:pt x="147637" y="2162174"/>
                </a:lnTo>
                <a:lnTo>
                  <a:pt x="104779" y="2155818"/>
                </a:lnTo>
                <a:lnTo>
                  <a:pt x="65613" y="2137293"/>
                </a:lnTo>
                <a:lnTo>
                  <a:pt x="33510" y="2108198"/>
                </a:lnTo>
                <a:lnTo>
                  <a:pt x="11237" y="2071034"/>
                </a:lnTo>
                <a:lnTo>
                  <a:pt x="708" y="2029008"/>
                </a:lnTo>
                <a:lnTo>
                  <a:pt x="0" y="2014537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4024" y="5400674"/>
            <a:ext cx="3800474" cy="217169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9559924" y="5492368"/>
            <a:ext cx="3093720" cy="94996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800" spc="70" dirty="0">
                <a:solidFill>
                  <a:srgbClr val="4E4D60"/>
                </a:solidFill>
                <a:latin typeface="Tahoma"/>
                <a:cs typeface="Tahoma"/>
              </a:rPr>
              <a:t>Ticket</a:t>
            </a:r>
            <a:r>
              <a:rPr sz="1800" spc="-4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800" spc="65" dirty="0">
                <a:solidFill>
                  <a:srgbClr val="4E4D60"/>
                </a:solidFill>
                <a:latin typeface="Tahoma"/>
                <a:cs typeface="Tahoma"/>
              </a:rPr>
              <a:t>and</a:t>
            </a:r>
            <a:r>
              <a:rPr sz="1800" spc="-40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4E4D60"/>
                </a:solidFill>
                <a:latin typeface="Tahoma"/>
                <a:cs typeface="Tahoma"/>
              </a:rPr>
              <a:t>receipt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690"/>
              </a:spcBef>
            </a:pPr>
            <a:r>
              <a:rPr sz="1500" spc="50" dirty="0">
                <a:solidFill>
                  <a:srgbClr val="4E4D60"/>
                </a:solidFill>
                <a:latin typeface="Tahoma"/>
                <a:cs typeface="Tahoma"/>
              </a:rPr>
              <a:t>Generate</a:t>
            </a:r>
            <a:r>
              <a:rPr sz="1500" spc="2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E4D60"/>
                </a:solidFill>
                <a:latin typeface="Tahoma"/>
                <a:cs typeface="Tahoma"/>
              </a:rPr>
              <a:t>a</a:t>
            </a:r>
            <a:r>
              <a:rPr sz="1500" spc="2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4E4D60"/>
                </a:solidFill>
                <a:latin typeface="Tahoma"/>
                <a:cs typeface="Tahoma"/>
              </a:rPr>
              <a:t>parking</a:t>
            </a:r>
            <a:r>
              <a:rPr sz="1500" spc="2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E4D60"/>
                </a:solidFill>
                <a:latin typeface="Tahoma"/>
                <a:cs typeface="Tahoma"/>
              </a:rPr>
              <a:t>ticket</a:t>
            </a:r>
            <a:r>
              <a:rPr sz="1500" spc="2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4E4D60"/>
                </a:solidFill>
                <a:latin typeface="Tahoma"/>
                <a:cs typeface="Tahoma"/>
              </a:rPr>
              <a:t>on</a:t>
            </a:r>
            <a:r>
              <a:rPr sz="1500" spc="30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4E4D60"/>
                </a:solidFill>
                <a:latin typeface="Tahoma"/>
                <a:cs typeface="Tahoma"/>
              </a:rPr>
              <a:t>entry </a:t>
            </a:r>
            <a:r>
              <a:rPr sz="1500" spc="65" dirty="0">
                <a:solidFill>
                  <a:srgbClr val="4E4D60"/>
                </a:solidFill>
                <a:latin typeface="Tahoma"/>
                <a:cs typeface="Tahoma"/>
              </a:rPr>
              <a:t>and</a:t>
            </a:r>
            <a:r>
              <a:rPr sz="1500" spc="-3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4E4D60"/>
                </a:solidFill>
                <a:latin typeface="Tahoma"/>
                <a:cs typeface="Tahoma"/>
              </a:rPr>
              <a:t>a</a:t>
            </a:r>
            <a:r>
              <a:rPr sz="1500" spc="-3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4E4D60"/>
                </a:solidFill>
                <a:latin typeface="Tahoma"/>
                <a:cs typeface="Tahoma"/>
              </a:rPr>
              <a:t>receipt</a:t>
            </a:r>
            <a:r>
              <a:rPr sz="1500" spc="-3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4E4D60"/>
                </a:solidFill>
                <a:latin typeface="Tahoma"/>
                <a:cs typeface="Tahoma"/>
              </a:rPr>
              <a:t>on</a:t>
            </a:r>
            <a:r>
              <a:rPr sz="1500" spc="-35" dirty="0">
                <a:solidFill>
                  <a:srgbClr val="4E4D60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4E4D60"/>
                </a:solidFill>
                <a:latin typeface="Tahoma"/>
                <a:cs typeface="Tahoma"/>
              </a:rPr>
              <a:t>exit.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348785" y="5405436"/>
            <a:ext cx="3790950" cy="2162175"/>
          </a:xfrm>
          <a:custGeom>
            <a:avLst/>
            <a:gdLst/>
            <a:ahLst/>
            <a:cxnLst/>
            <a:rect l="l" t="t" r="r" b="b"/>
            <a:pathLst>
              <a:path w="3790950" h="2162175">
                <a:moveTo>
                  <a:pt x="0" y="2014537"/>
                </a:moveTo>
                <a:lnTo>
                  <a:pt x="0" y="147637"/>
                </a:lnTo>
                <a:lnTo>
                  <a:pt x="176" y="140384"/>
                </a:lnTo>
                <a:lnTo>
                  <a:pt x="8625" y="97907"/>
                </a:lnTo>
                <a:lnTo>
                  <a:pt x="29057" y="59681"/>
                </a:lnTo>
                <a:lnTo>
                  <a:pt x="59681" y="29057"/>
                </a:lnTo>
                <a:lnTo>
                  <a:pt x="97906" y="8625"/>
                </a:lnTo>
                <a:lnTo>
                  <a:pt x="140384" y="177"/>
                </a:lnTo>
                <a:lnTo>
                  <a:pt x="147637" y="0"/>
                </a:lnTo>
                <a:lnTo>
                  <a:pt x="3643312" y="0"/>
                </a:lnTo>
                <a:lnTo>
                  <a:pt x="3686167" y="6355"/>
                </a:lnTo>
                <a:lnTo>
                  <a:pt x="3725333" y="24880"/>
                </a:lnTo>
                <a:lnTo>
                  <a:pt x="3757437" y="53975"/>
                </a:lnTo>
                <a:lnTo>
                  <a:pt x="3779710" y="91138"/>
                </a:lnTo>
                <a:lnTo>
                  <a:pt x="3790239" y="133166"/>
                </a:lnTo>
                <a:lnTo>
                  <a:pt x="3790949" y="147637"/>
                </a:lnTo>
                <a:lnTo>
                  <a:pt x="3790949" y="2014537"/>
                </a:lnTo>
                <a:lnTo>
                  <a:pt x="3784593" y="2057394"/>
                </a:lnTo>
                <a:lnTo>
                  <a:pt x="3766067" y="2096559"/>
                </a:lnTo>
                <a:lnTo>
                  <a:pt x="3736972" y="2128663"/>
                </a:lnTo>
                <a:lnTo>
                  <a:pt x="3699808" y="2150936"/>
                </a:lnTo>
                <a:lnTo>
                  <a:pt x="3657782" y="2161465"/>
                </a:lnTo>
                <a:lnTo>
                  <a:pt x="3643312" y="2162174"/>
                </a:lnTo>
                <a:lnTo>
                  <a:pt x="147637" y="2162174"/>
                </a:lnTo>
                <a:lnTo>
                  <a:pt x="104778" y="2155818"/>
                </a:lnTo>
                <a:lnTo>
                  <a:pt x="65613" y="2137293"/>
                </a:lnTo>
                <a:lnTo>
                  <a:pt x="33509" y="2108198"/>
                </a:lnTo>
                <a:lnTo>
                  <a:pt x="11237" y="2071034"/>
                </a:lnTo>
                <a:lnTo>
                  <a:pt x="708" y="2029008"/>
                </a:lnTo>
                <a:lnTo>
                  <a:pt x="0" y="2014537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0209" rIns="0" bIns="0" rtlCol="0">
            <a:spAutoFit/>
          </a:bodyPr>
          <a:lstStyle/>
          <a:p>
            <a:pPr marL="3502660" algn="ctr">
              <a:lnSpc>
                <a:spcPct val="100000"/>
              </a:lnSpc>
              <a:spcBef>
                <a:spcPts val="3229"/>
              </a:spcBef>
            </a:pPr>
            <a:r>
              <a:rPr spc="285" dirty="0"/>
              <a:t>OOP</a:t>
            </a:r>
            <a:r>
              <a:rPr spc="-270" dirty="0"/>
              <a:t> </a:t>
            </a:r>
            <a:r>
              <a:rPr spc="265" dirty="0"/>
              <a:t>concepts</a:t>
            </a:r>
            <a:r>
              <a:rPr spc="-265" dirty="0"/>
              <a:t> </a:t>
            </a:r>
            <a:r>
              <a:rPr spc="225" dirty="0"/>
              <a:t>used</a:t>
            </a:r>
          </a:p>
          <a:p>
            <a:pPr marL="3502660" marR="8890" algn="ctr">
              <a:lnSpc>
                <a:spcPct val="100000"/>
              </a:lnSpc>
              <a:spcBef>
                <a:spcPts val="869"/>
              </a:spcBef>
            </a:pPr>
            <a:r>
              <a:rPr sz="1500" dirty="0">
                <a:solidFill>
                  <a:srgbClr val="6D6A78"/>
                </a:solidFill>
              </a:rPr>
              <a:t>Four</a:t>
            </a:r>
            <a:r>
              <a:rPr sz="1500" spc="-5" dirty="0">
                <a:solidFill>
                  <a:srgbClr val="6D6A78"/>
                </a:solidFill>
              </a:rPr>
              <a:t> </a:t>
            </a:r>
            <a:r>
              <a:rPr sz="1500" spc="80" dirty="0">
                <a:solidFill>
                  <a:srgbClr val="6D6A78"/>
                </a:solidFill>
              </a:rPr>
              <a:t>core</a:t>
            </a:r>
            <a:r>
              <a:rPr sz="1500" dirty="0">
                <a:solidFill>
                  <a:srgbClr val="6D6A78"/>
                </a:solidFill>
              </a:rPr>
              <a:t> </a:t>
            </a:r>
            <a:r>
              <a:rPr sz="1500" spc="65" dirty="0">
                <a:solidFill>
                  <a:srgbClr val="6D6A78"/>
                </a:solidFill>
              </a:rPr>
              <a:t>principles</a:t>
            </a:r>
            <a:r>
              <a:rPr sz="1500" spc="-5" dirty="0">
                <a:solidFill>
                  <a:srgbClr val="6D6A78"/>
                </a:solidFill>
              </a:rPr>
              <a:t> </a:t>
            </a:r>
            <a:r>
              <a:rPr sz="1500" spc="65" dirty="0">
                <a:solidFill>
                  <a:srgbClr val="6D6A78"/>
                </a:solidFill>
              </a:rPr>
              <a:t>applied</a:t>
            </a:r>
            <a:r>
              <a:rPr sz="1500" dirty="0">
                <a:solidFill>
                  <a:srgbClr val="6D6A78"/>
                </a:solidFill>
              </a:rPr>
              <a:t> to </a:t>
            </a:r>
            <a:r>
              <a:rPr sz="1500" spc="60" dirty="0">
                <a:solidFill>
                  <a:srgbClr val="6D6A78"/>
                </a:solidFill>
              </a:rPr>
              <a:t>model</a:t>
            </a:r>
            <a:r>
              <a:rPr sz="1500" spc="-5" dirty="0">
                <a:solidFill>
                  <a:srgbClr val="6D6A78"/>
                </a:solidFill>
              </a:rPr>
              <a:t> </a:t>
            </a:r>
            <a:r>
              <a:rPr sz="1500" spc="55" dirty="0">
                <a:solidFill>
                  <a:srgbClr val="6D6A78"/>
                </a:solidFill>
              </a:rPr>
              <a:t>real-</a:t>
            </a:r>
            <a:r>
              <a:rPr sz="1500" spc="65" dirty="0">
                <a:solidFill>
                  <a:srgbClr val="6D6A78"/>
                </a:solidFill>
              </a:rPr>
              <a:t>world</a:t>
            </a:r>
            <a:r>
              <a:rPr sz="1500" dirty="0">
                <a:solidFill>
                  <a:srgbClr val="6D6A78"/>
                </a:solidFill>
              </a:rPr>
              <a:t> </a:t>
            </a:r>
            <a:r>
              <a:rPr sz="1500" spc="60" dirty="0">
                <a:solidFill>
                  <a:srgbClr val="6D6A78"/>
                </a:solidFill>
              </a:rPr>
              <a:t>parking</a:t>
            </a:r>
            <a:r>
              <a:rPr sz="1500" dirty="0">
                <a:solidFill>
                  <a:srgbClr val="6D6A78"/>
                </a:solidFill>
              </a:rPr>
              <a:t> </a:t>
            </a:r>
            <a:r>
              <a:rPr sz="1500" spc="-10" dirty="0">
                <a:solidFill>
                  <a:srgbClr val="6D6A78"/>
                </a:solidFill>
              </a:rPr>
              <a:t>entities</a:t>
            </a:r>
            <a:endParaRPr sz="15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399" y="1917699"/>
            <a:ext cx="3327372" cy="58927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49299" y="2482850"/>
            <a:ext cx="2329180" cy="2168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500"/>
              </a:lnSpc>
              <a:spcBef>
                <a:spcPts val="110"/>
              </a:spcBef>
            </a:pPr>
            <a:r>
              <a:rPr sz="1800" spc="70" dirty="0">
                <a:solidFill>
                  <a:srgbClr val="6D6A78"/>
                </a:solidFill>
                <a:latin typeface="Tahoma"/>
                <a:cs typeface="Tahoma"/>
              </a:rPr>
              <a:t>Protect</a:t>
            </a:r>
            <a:r>
              <a:rPr sz="1800" spc="-5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80" dirty="0">
                <a:solidFill>
                  <a:srgbClr val="6D6A78"/>
                </a:solidFill>
                <a:latin typeface="Tahoma"/>
                <a:cs typeface="Tahoma"/>
              </a:rPr>
              <a:t>vehicle</a:t>
            </a:r>
            <a:r>
              <a:rPr sz="1800" spc="-5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40" dirty="0">
                <a:solidFill>
                  <a:srgbClr val="6D6A78"/>
                </a:solidFill>
                <a:latin typeface="Tahoma"/>
                <a:cs typeface="Tahoma"/>
              </a:rPr>
              <a:t>and </a:t>
            </a:r>
            <a:r>
              <a:rPr sz="1800" spc="65" dirty="0">
                <a:solidFill>
                  <a:srgbClr val="6D6A78"/>
                </a:solidFill>
                <a:latin typeface="Tahoma"/>
                <a:cs typeface="Tahoma"/>
              </a:rPr>
              <a:t>parking</a:t>
            </a:r>
            <a:r>
              <a:rPr sz="1800" spc="4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6D6A78"/>
                </a:solidFill>
                <a:latin typeface="Tahoma"/>
                <a:cs typeface="Tahoma"/>
              </a:rPr>
              <a:t>data</a:t>
            </a:r>
            <a:r>
              <a:rPr sz="1800" spc="5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65" dirty="0">
                <a:solidFill>
                  <a:srgbClr val="6D6A78"/>
                </a:solidFill>
                <a:latin typeface="Tahoma"/>
                <a:cs typeface="Tahoma"/>
              </a:rPr>
              <a:t>using </a:t>
            </a:r>
            <a:r>
              <a:rPr sz="1800" spc="50" dirty="0">
                <a:solidFill>
                  <a:srgbClr val="6D6A78"/>
                </a:solidFill>
                <a:latin typeface="Tahoma"/>
                <a:cs typeface="Tahoma"/>
              </a:rPr>
              <a:t>private</a:t>
            </a:r>
            <a:r>
              <a:rPr sz="1800" spc="-4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70" dirty="0">
                <a:solidFill>
                  <a:srgbClr val="6D6A78"/>
                </a:solidFill>
                <a:latin typeface="Tahoma"/>
                <a:cs typeface="Tahoma"/>
              </a:rPr>
              <a:t>variables</a:t>
            </a:r>
            <a:r>
              <a:rPr sz="1800" spc="-4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6D6A78"/>
                </a:solidFill>
                <a:latin typeface="Tahoma"/>
                <a:cs typeface="Tahoma"/>
              </a:rPr>
              <a:t>with </a:t>
            </a:r>
            <a:r>
              <a:rPr sz="1800" dirty="0">
                <a:solidFill>
                  <a:srgbClr val="6D6A78"/>
                </a:solidFill>
                <a:latin typeface="Tahoma"/>
                <a:cs typeface="Tahoma"/>
              </a:rPr>
              <a:t>getter</a:t>
            </a:r>
            <a:r>
              <a:rPr sz="1800" spc="7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65" dirty="0">
                <a:solidFill>
                  <a:srgbClr val="6D6A78"/>
                </a:solidFill>
                <a:latin typeface="Tahoma"/>
                <a:cs typeface="Tahoma"/>
              </a:rPr>
              <a:t>and</a:t>
            </a:r>
            <a:r>
              <a:rPr sz="1800" spc="7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6D6A78"/>
                </a:solidFill>
                <a:latin typeface="Tahoma"/>
                <a:cs typeface="Tahoma"/>
              </a:rPr>
              <a:t>setter</a:t>
            </a:r>
            <a:endParaRPr sz="1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50" dirty="0">
                <a:solidFill>
                  <a:srgbClr val="6D6A78"/>
                </a:solidFill>
                <a:latin typeface="Tahoma"/>
                <a:cs typeface="Tahoma"/>
              </a:rPr>
              <a:t>methods.</a:t>
            </a:r>
            <a:endParaRPr sz="1800" dirty="0">
              <a:latin typeface="Tahoma"/>
              <a:cs typeface="Tahoma"/>
            </a:endParaRPr>
          </a:p>
          <a:p>
            <a:pPr marL="12700" marR="18415">
              <a:lnSpc>
                <a:spcPct val="100000"/>
              </a:lnSpc>
              <a:spcBef>
                <a:spcPts val="690"/>
              </a:spcBef>
            </a:pPr>
            <a:r>
              <a:rPr sz="1500" spc="55" dirty="0">
                <a:solidFill>
                  <a:srgbClr val="6D6A78"/>
                </a:solidFill>
                <a:latin typeface="Tahoma"/>
                <a:cs typeface="Tahoma"/>
              </a:rPr>
              <a:t>Prevents</a:t>
            </a:r>
            <a:r>
              <a:rPr sz="1500" spc="-4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40" dirty="0">
                <a:solidFill>
                  <a:srgbClr val="6D6A78"/>
                </a:solidFill>
                <a:latin typeface="Tahoma"/>
                <a:cs typeface="Tahoma"/>
              </a:rPr>
              <a:t>unauthorised </a:t>
            </a:r>
            <a:r>
              <a:rPr sz="1500" spc="110" dirty="0">
                <a:solidFill>
                  <a:srgbClr val="6D6A78"/>
                </a:solidFill>
                <a:latin typeface="Tahoma"/>
                <a:cs typeface="Tahoma"/>
              </a:rPr>
              <a:t>access</a:t>
            </a:r>
            <a:r>
              <a:rPr sz="1500" spc="7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D6A78"/>
                </a:solidFill>
                <a:latin typeface="Tahoma"/>
                <a:cs typeface="Tahoma"/>
              </a:rPr>
              <a:t>to</a:t>
            </a:r>
            <a:r>
              <a:rPr sz="1500" spc="7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D6A78"/>
                </a:solidFill>
                <a:latin typeface="Tahoma"/>
                <a:cs typeface="Tahoma"/>
              </a:rPr>
              <a:t>internal</a:t>
            </a:r>
            <a:r>
              <a:rPr sz="1500" spc="7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6D6A78"/>
                </a:solidFill>
                <a:latin typeface="Tahoma"/>
                <a:cs typeface="Tahoma"/>
              </a:rPr>
              <a:t>system </a:t>
            </a:r>
            <a:r>
              <a:rPr sz="1500" spc="-10" dirty="0">
                <a:solidFill>
                  <a:srgbClr val="6D6A78"/>
                </a:solidFill>
                <a:latin typeface="Tahoma"/>
                <a:cs typeface="Tahoma"/>
              </a:rPr>
              <a:t>state.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8162" y="2290762"/>
            <a:ext cx="3086100" cy="5514975"/>
          </a:xfrm>
          <a:custGeom>
            <a:avLst/>
            <a:gdLst/>
            <a:ahLst/>
            <a:cxnLst/>
            <a:rect l="l" t="t" r="r" b="b"/>
            <a:pathLst>
              <a:path w="3086100" h="5514975">
                <a:moveTo>
                  <a:pt x="0" y="5367336"/>
                </a:moveTo>
                <a:lnTo>
                  <a:pt x="0" y="147637"/>
                </a:lnTo>
                <a:lnTo>
                  <a:pt x="177" y="140384"/>
                </a:lnTo>
                <a:lnTo>
                  <a:pt x="8626" y="97907"/>
                </a:lnTo>
                <a:lnTo>
                  <a:pt x="29058" y="59681"/>
                </a:lnTo>
                <a:lnTo>
                  <a:pt x="59682" y="29058"/>
                </a:lnTo>
                <a:lnTo>
                  <a:pt x="97907" y="8626"/>
                </a:lnTo>
                <a:lnTo>
                  <a:pt x="140384" y="177"/>
                </a:lnTo>
                <a:lnTo>
                  <a:pt x="147637" y="0"/>
                </a:lnTo>
                <a:lnTo>
                  <a:pt x="2938462" y="0"/>
                </a:lnTo>
                <a:lnTo>
                  <a:pt x="2981319" y="6355"/>
                </a:lnTo>
                <a:lnTo>
                  <a:pt x="3020485" y="24881"/>
                </a:lnTo>
                <a:lnTo>
                  <a:pt x="3052588" y="53975"/>
                </a:lnTo>
                <a:lnTo>
                  <a:pt x="3074861" y="91138"/>
                </a:lnTo>
                <a:lnTo>
                  <a:pt x="3085390" y="133166"/>
                </a:lnTo>
                <a:lnTo>
                  <a:pt x="3086099" y="147637"/>
                </a:lnTo>
                <a:lnTo>
                  <a:pt x="3086099" y="5367336"/>
                </a:lnTo>
                <a:lnTo>
                  <a:pt x="3079743" y="5410193"/>
                </a:lnTo>
                <a:lnTo>
                  <a:pt x="3061218" y="5449358"/>
                </a:lnTo>
                <a:lnTo>
                  <a:pt x="3032123" y="5481462"/>
                </a:lnTo>
                <a:lnTo>
                  <a:pt x="2994960" y="5503735"/>
                </a:lnTo>
                <a:lnTo>
                  <a:pt x="2952933" y="5514264"/>
                </a:lnTo>
                <a:lnTo>
                  <a:pt x="2938462" y="5514974"/>
                </a:lnTo>
                <a:lnTo>
                  <a:pt x="147637" y="5514974"/>
                </a:lnTo>
                <a:lnTo>
                  <a:pt x="104780" y="5508617"/>
                </a:lnTo>
                <a:lnTo>
                  <a:pt x="65614" y="5490092"/>
                </a:lnTo>
                <a:lnTo>
                  <a:pt x="33510" y="5460996"/>
                </a:lnTo>
                <a:lnTo>
                  <a:pt x="11238" y="5423833"/>
                </a:lnTo>
                <a:lnTo>
                  <a:pt x="709" y="5381807"/>
                </a:lnTo>
                <a:lnTo>
                  <a:pt x="0" y="5367336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24299" y="1993901"/>
            <a:ext cx="3571848" cy="58165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140200" y="2482850"/>
            <a:ext cx="2677795" cy="16637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500"/>
              </a:lnSpc>
              <a:spcBef>
                <a:spcPts val="110"/>
              </a:spcBef>
            </a:pPr>
            <a:r>
              <a:rPr sz="1800" dirty="0">
                <a:solidFill>
                  <a:srgbClr val="6D6A78"/>
                </a:solidFill>
                <a:latin typeface="Tahoma"/>
                <a:cs typeface="Tahoma"/>
              </a:rPr>
              <a:t>Car,</a:t>
            </a:r>
            <a:r>
              <a:rPr sz="1800" spc="7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6D6A78"/>
                </a:solidFill>
                <a:latin typeface="Tahoma"/>
                <a:cs typeface="Tahoma"/>
              </a:rPr>
              <a:t>Bike,</a:t>
            </a:r>
            <a:r>
              <a:rPr sz="1800" spc="7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65" dirty="0">
                <a:solidFill>
                  <a:srgbClr val="6D6A78"/>
                </a:solidFill>
                <a:latin typeface="Tahoma"/>
                <a:cs typeface="Tahoma"/>
              </a:rPr>
              <a:t>and</a:t>
            </a:r>
            <a:r>
              <a:rPr sz="1800" spc="7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65" dirty="0">
                <a:solidFill>
                  <a:srgbClr val="6D6A78"/>
                </a:solidFill>
                <a:latin typeface="Tahoma"/>
                <a:cs typeface="Tahoma"/>
              </a:rPr>
              <a:t>Truck </a:t>
            </a:r>
            <a:r>
              <a:rPr sz="1800" dirty="0">
                <a:solidFill>
                  <a:srgbClr val="6D6A78"/>
                </a:solidFill>
                <a:latin typeface="Tahoma"/>
                <a:cs typeface="Tahoma"/>
              </a:rPr>
              <a:t>inherit</a:t>
            </a:r>
            <a:r>
              <a:rPr sz="1800" spc="8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70" dirty="0">
                <a:solidFill>
                  <a:srgbClr val="6D6A78"/>
                </a:solidFill>
                <a:latin typeface="Tahoma"/>
                <a:cs typeface="Tahoma"/>
              </a:rPr>
              <a:t>shared</a:t>
            </a:r>
            <a:r>
              <a:rPr sz="1800" spc="8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6D6A78"/>
                </a:solidFill>
                <a:latin typeface="Tahoma"/>
                <a:cs typeface="Tahoma"/>
              </a:rPr>
              <a:t>properties </a:t>
            </a:r>
            <a:r>
              <a:rPr sz="1800" spc="65" dirty="0">
                <a:solidFill>
                  <a:srgbClr val="6D6A78"/>
                </a:solidFill>
                <a:latin typeface="Tahoma"/>
                <a:cs typeface="Tahoma"/>
              </a:rPr>
              <a:t>and</a:t>
            </a:r>
            <a:r>
              <a:rPr sz="1800" spc="-5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75" dirty="0">
                <a:solidFill>
                  <a:srgbClr val="6D6A78"/>
                </a:solidFill>
                <a:latin typeface="Tahoma"/>
                <a:cs typeface="Tahoma"/>
              </a:rPr>
              <a:t>methods</a:t>
            </a:r>
            <a:r>
              <a:rPr sz="1800" spc="-4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6D6A78"/>
                </a:solidFill>
                <a:latin typeface="Tahoma"/>
                <a:cs typeface="Tahoma"/>
              </a:rPr>
              <a:t>from</a:t>
            </a:r>
            <a:r>
              <a:rPr sz="1800" spc="-4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6D6A78"/>
                </a:solidFill>
                <a:latin typeface="Tahoma"/>
                <a:cs typeface="Tahoma"/>
              </a:rPr>
              <a:t>the </a:t>
            </a:r>
            <a:r>
              <a:rPr sz="1800" spc="100" dirty="0">
                <a:solidFill>
                  <a:srgbClr val="6D6A78"/>
                </a:solidFill>
                <a:latin typeface="Tahoma"/>
                <a:cs typeface="Tahoma"/>
              </a:rPr>
              <a:t>base</a:t>
            </a:r>
            <a:r>
              <a:rPr sz="1800" spc="-5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80" dirty="0">
                <a:solidFill>
                  <a:srgbClr val="6D6A78"/>
                </a:solidFill>
                <a:latin typeface="Tahoma"/>
                <a:cs typeface="Tahoma"/>
              </a:rPr>
              <a:t>Vehicle</a:t>
            </a:r>
            <a:r>
              <a:rPr sz="1800" spc="-5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75" dirty="0">
                <a:solidFill>
                  <a:srgbClr val="6D6A78"/>
                </a:solidFill>
                <a:latin typeface="Tahoma"/>
                <a:cs typeface="Tahoma"/>
              </a:rPr>
              <a:t>class.</a:t>
            </a:r>
            <a:endParaRPr sz="1800">
              <a:latin typeface="Tahoma"/>
              <a:cs typeface="Tahoma"/>
            </a:endParaRPr>
          </a:p>
          <a:p>
            <a:pPr marL="12700" marR="327025">
              <a:lnSpc>
                <a:spcPct val="100000"/>
              </a:lnSpc>
              <a:spcBef>
                <a:spcPts val="690"/>
              </a:spcBef>
            </a:pPr>
            <a:r>
              <a:rPr sz="1500" spc="85" dirty="0">
                <a:solidFill>
                  <a:srgbClr val="6D6A78"/>
                </a:solidFill>
                <a:latin typeface="Tahoma"/>
                <a:cs typeface="Tahoma"/>
              </a:rPr>
              <a:t>Reduces</a:t>
            </a:r>
            <a:r>
              <a:rPr sz="1500" spc="-3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105" dirty="0">
                <a:solidFill>
                  <a:srgbClr val="6D6A78"/>
                </a:solidFill>
                <a:latin typeface="Tahoma"/>
                <a:cs typeface="Tahoma"/>
              </a:rPr>
              <a:t>code</a:t>
            </a:r>
            <a:r>
              <a:rPr sz="1500" spc="-3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6D6A78"/>
                </a:solidFill>
                <a:latin typeface="Tahoma"/>
                <a:cs typeface="Tahoma"/>
              </a:rPr>
              <a:t>duplication </a:t>
            </a:r>
            <a:r>
              <a:rPr sz="1500" spc="85" dirty="0">
                <a:solidFill>
                  <a:srgbClr val="6D6A78"/>
                </a:solidFill>
                <a:latin typeface="Tahoma"/>
                <a:cs typeface="Tahoma"/>
              </a:rPr>
              <a:t>across</a:t>
            </a:r>
            <a:r>
              <a:rPr sz="1500" spc="-4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6D6A78"/>
                </a:solidFill>
                <a:latin typeface="Tahoma"/>
                <a:cs typeface="Tahoma"/>
              </a:rPr>
              <a:t>vehicle</a:t>
            </a:r>
            <a:r>
              <a:rPr sz="1500" spc="-3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6D6A78"/>
                </a:solidFill>
                <a:latin typeface="Tahoma"/>
                <a:cs typeface="Tahoma"/>
              </a:rPr>
              <a:t>types.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29062" y="2290762"/>
            <a:ext cx="3105150" cy="5514975"/>
          </a:xfrm>
          <a:custGeom>
            <a:avLst/>
            <a:gdLst/>
            <a:ahLst/>
            <a:cxnLst/>
            <a:rect l="l" t="t" r="r" b="b"/>
            <a:pathLst>
              <a:path w="3105150" h="5514975">
                <a:moveTo>
                  <a:pt x="0" y="5367336"/>
                </a:moveTo>
                <a:lnTo>
                  <a:pt x="0" y="147637"/>
                </a:lnTo>
                <a:lnTo>
                  <a:pt x="177" y="140384"/>
                </a:lnTo>
                <a:lnTo>
                  <a:pt x="8625" y="97907"/>
                </a:lnTo>
                <a:lnTo>
                  <a:pt x="29057" y="59681"/>
                </a:lnTo>
                <a:lnTo>
                  <a:pt x="59681" y="29058"/>
                </a:lnTo>
                <a:lnTo>
                  <a:pt x="97907" y="8626"/>
                </a:lnTo>
                <a:lnTo>
                  <a:pt x="140384" y="177"/>
                </a:lnTo>
                <a:lnTo>
                  <a:pt x="147637" y="0"/>
                </a:lnTo>
                <a:lnTo>
                  <a:pt x="2957512" y="0"/>
                </a:lnTo>
                <a:lnTo>
                  <a:pt x="3000368" y="6355"/>
                </a:lnTo>
                <a:lnTo>
                  <a:pt x="3039534" y="24881"/>
                </a:lnTo>
                <a:lnTo>
                  <a:pt x="3071638" y="53975"/>
                </a:lnTo>
                <a:lnTo>
                  <a:pt x="3093910" y="91138"/>
                </a:lnTo>
                <a:lnTo>
                  <a:pt x="3104439" y="133166"/>
                </a:lnTo>
                <a:lnTo>
                  <a:pt x="3105149" y="147637"/>
                </a:lnTo>
                <a:lnTo>
                  <a:pt x="3105149" y="5367336"/>
                </a:lnTo>
                <a:lnTo>
                  <a:pt x="3098793" y="5410193"/>
                </a:lnTo>
                <a:lnTo>
                  <a:pt x="3080267" y="5449358"/>
                </a:lnTo>
                <a:lnTo>
                  <a:pt x="3051173" y="5481462"/>
                </a:lnTo>
                <a:lnTo>
                  <a:pt x="3014009" y="5503735"/>
                </a:lnTo>
                <a:lnTo>
                  <a:pt x="2971982" y="5514264"/>
                </a:lnTo>
                <a:lnTo>
                  <a:pt x="2957512" y="5514974"/>
                </a:lnTo>
                <a:lnTo>
                  <a:pt x="147637" y="5514974"/>
                </a:lnTo>
                <a:lnTo>
                  <a:pt x="104779" y="5508617"/>
                </a:lnTo>
                <a:lnTo>
                  <a:pt x="65613" y="5490092"/>
                </a:lnTo>
                <a:lnTo>
                  <a:pt x="33510" y="5460996"/>
                </a:lnTo>
                <a:lnTo>
                  <a:pt x="11237" y="5423833"/>
                </a:lnTo>
                <a:lnTo>
                  <a:pt x="708" y="5381807"/>
                </a:lnTo>
                <a:lnTo>
                  <a:pt x="0" y="5367336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43773" y="1993901"/>
            <a:ext cx="3571847" cy="581659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559675" y="2482850"/>
            <a:ext cx="2543175" cy="1892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500"/>
              </a:lnSpc>
              <a:spcBef>
                <a:spcPts val="110"/>
              </a:spcBef>
            </a:pPr>
            <a:r>
              <a:rPr sz="1800" spc="90" dirty="0">
                <a:solidFill>
                  <a:srgbClr val="6D6A78"/>
                </a:solidFill>
                <a:latin typeface="Tahoma"/>
                <a:cs typeface="Tahoma"/>
              </a:rPr>
              <a:t>Each</a:t>
            </a:r>
            <a:r>
              <a:rPr sz="1800" spc="-5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80" dirty="0">
                <a:solidFill>
                  <a:srgbClr val="6D6A78"/>
                </a:solidFill>
                <a:latin typeface="Tahoma"/>
                <a:cs typeface="Tahoma"/>
              </a:rPr>
              <a:t>vehicle</a:t>
            </a:r>
            <a:r>
              <a:rPr sz="1800" spc="-4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6D6A78"/>
                </a:solidFill>
                <a:latin typeface="Tahoma"/>
                <a:cs typeface="Tahoma"/>
              </a:rPr>
              <a:t>type </a:t>
            </a:r>
            <a:r>
              <a:rPr sz="1800" spc="70" dirty="0">
                <a:solidFill>
                  <a:srgbClr val="6D6A78"/>
                </a:solidFill>
                <a:latin typeface="Tahoma"/>
                <a:cs typeface="Tahoma"/>
              </a:rPr>
              <a:t>overrides</a:t>
            </a:r>
            <a:r>
              <a:rPr sz="1800" spc="-4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6D6A78"/>
                </a:solidFill>
                <a:latin typeface="Tahoma"/>
                <a:cs typeface="Tahoma"/>
              </a:rPr>
              <a:t>fee </a:t>
            </a:r>
            <a:r>
              <a:rPr sz="1800" spc="70" dirty="0">
                <a:solidFill>
                  <a:srgbClr val="6D6A78"/>
                </a:solidFill>
                <a:latin typeface="Tahoma"/>
                <a:cs typeface="Tahoma"/>
              </a:rPr>
              <a:t>calculation</a:t>
            </a:r>
            <a:r>
              <a:rPr sz="180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6D6A78"/>
                </a:solidFill>
                <a:latin typeface="Tahoma"/>
                <a:cs typeface="Tahoma"/>
              </a:rPr>
              <a:t>with</a:t>
            </a:r>
            <a:r>
              <a:rPr sz="1800" dirty="0">
                <a:solidFill>
                  <a:srgbClr val="6D6A78"/>
                </a:solidFill>
                <a:latin typeface="Tahoma"/>
                <a:cs typeface="Tahoma"/>
              </a:rPr>
              <a:t> its </a:t>
            </a:r>
            <a:r>
              <a:rPr sz="1800" spc="55" dirty="0">
                <a:solidFill>
                  <a:srgbClr val="6D6A78"/>
                </a:solidFill>
                <a:latin typeface="Tahoma"/>
                <a:cs typeface="Tahoma"/>
              </a:rPr>
              <a:t>own logic.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500" spc="70" dirty="0">
                <a:solidFill>
                  <a:srgbClr val="6D6A78"/>
                </a:solidFill>
                <a:latin typeface="Tahoma"/>
                <a:cs typeface="Tahoma"/>
              </a:rPr>
              <a:t>One</a:t>
            </a:r>
            <a:r>
              <a:rPr sz="1500" spc="14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10" dirty="0">
                <a:solidFill>
                  <a:srgbClr val="6D6A78"/>
                </a:solidFill>
                <a:latin typeface="Tahoma"/>
                <a:cs typeface="Tahoma"/>
              </a:rPr>
              <a:t>interface,</a:t>
            </a:r>
            <a:r>
              <a:rPr sz="1500" spc="14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6D6A78"/>
                </a:solidFill>
                <a:latin typeface="Tahoma"/>
                <a:cs typeface="Tahoma"/>
              </a:rPr>
              <a:t>multiple</a:t>
            </a:r>
            <a:endParaRPr sz="1500">
              <a:latin typeface="Tahoma"/>
              <a:cs typeface="Tahoma"/>
            </a:endParaRPr>
          </a:p>
          <a:p>
            <a:pPr marL="12700" marR="231140">
              <a:lnSpc>
                <a:spcPct val="100000"/>
              </a:lnSpc>
            </a:pPr>
            <a:r>
              <a:rPr sz="1500" spc="60" dirty="0">
                <a:solidFill>
                  <a:srgbClr val="6D6A78"/>
                </a:solidFill>
                <a:latin typeface="Tahoma"/>
                <a:cs typeface="Tahoma"/>
              </a:rPr>
              <a:t>behaviours</a:t>
            </a:r>
            <a:r>
              <a:rPr sz="1500" spc="-2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6D6A78"/>
                </a:solidFill>
                <a:latin typeface="Tahoma"/>
                <a:cs typeface="Tahoma"/>
              </a:rPr>
              <a:t>depending</a:t>
            </a:r>
            <a:r>
              <a:rPr sz="1500" spc="-2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40" dirty="0">
                <a:solidFill>
                  <a:srgbClr val="6D6A78"/>
                </a:solidFill>
                <a:latin typeface="Tahoma"/>
                <a:cs typeface="Tahoma"/>
              </a:rPr>
              <a:t>on </a:t>
            </a:r>
            <a:r>
              <a:rPr sz="1500" spc="65" dirty="0">
                <a:solidFill>
                  <a:srgbClr val="6D6A78"/>
                </a:solidFill>
                <a:latin typeface="Tahoma"/>
                <a:cs typeface="Tahoma"/>
              </a:rPr>
              <a:t>vehicle</a:t>
            </a:r>
            <a:r>
              <a:rPr sz="1500" spc="-3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6D6A78"/>
                </a:solidFill>
                <a:latin typeface="Tahoma"/>
                <a:cs typeface="Tahoma"/>
              </a:rPr>
              <a:t>class.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348536" y="2290762"/>
            <a:ext cx="3105150" cy="5514975"/>
          </a:xfrm>
          <a:custGeom>
            <a:avLst/>
            <a:gdLst/>
            <a:ahLst/>
            <a:cxnLst/>
            <a:rect l="l" t="t" r="r" b="b"/>
            <a:pathLst>
              <a:path w="3105150" h="5514975">
                <a:moveTo>
                  <a:pt x="0" y="5367336"/>
                </a:moveTo>
                <a:lnTo>
                  <a:pt x="0" y="147637"/>
                </a:lnTo>
                <a:lnTo>
                  <a:pt x="176" y="140384"/>
                </a:lnTo>
                <a:lnTo>
                  <a:pt x="8625" y="97907"/>
                </a:lnTo>
                <a:lnTo>
                  <a:pt x="29058" y="59681"/>
                </a:lnTo>
                <a:lnTo>
                  <a:pt x="59681" y="29058"/>
                </a:lnTo>
                <a:lnTo>
                  <a:pt x="97907" y="8626"/>
                </a:lnTo>
                <a:lnTo>
                  <a:pt x="140384" y="177"/>
                </a:lnTo>
                <a:lnTo>
                  <a:pt x="147637" y="0"/>
                </a:lnTo>
                <a:lnTo>
                  <a:pt x="2957512" y="0"/>
                </a:lnTo>
                <a:lnTo>
                  <a:pt x="3000369" y="6355"/>
                </a:lnTo>
                <a:lnTo>
                  <a:pt x="3039533" y="24881"/>
                </a:lnTo>
                <a:lnTo>
                  <a:pt x="3071637" y="53975"/>
                </a:lnTo>
                <a:lnTo>
                  <a:pt x="3093909" y="91138"/>
                </a:lnTo>
                <a:lnTo>
                  <a:pt x="3104439" y="133166"/>
                </a:lnTo>
                <a:lnTo>
                  <a:pt x="3105149" y="147637"/>
                </a:lnTo>
                <a:lnTo>
                  <a:pt x="3105149" y="5367336"/>
                </a:lnTo>
                <a:lnTo>
                  <a:pt x="3098792" y="5410193"/>
                </a:lnTo>
                <a:lnTo>
                  <a:pt x="3080266" y="5449358"/>
                </a:lnTo>
                <a:lnTo>
                  <a:pt x="3051173" y="5481462"/>
                </a:lnTo>
                <a:lnTo>
                  <a:pt x="3014009" y="5503735"/>
                </a:lnTo>
                <a:lnTo>
                  <a:pt x="2971983" y="5514264"/>
                </a:lnTo>
                <a:lnTo>
                  <a:pt x="2957512" y="5514974"/>
                </a:lnTo>
                <a:lnTo>
                  <a:pt x="147637" y="5514974"/>
                </a:lnTo>
                <a:lnTo>
                  <a:pt x="104779" y="5508617"/>
                </a:lnTo>
                <a:lnTo>
                  <a:pt x="65614" y="5490092"/>
                </a:lnTo>
                <a:lnTo>
                  <a:pt x="33510" y="5460996"/>
                </a:lnTo>
                <a:lnTo>
                  <a:pt x="11237" y="5423833"/>
                </a:lnTo>
                <a:lnTo>
                  <a:pt x="708" y="5381807"/>
                </a:lnTo>
                <a:lnTo>
                  <a:pt x="0" y="5367336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53724" y="1993901"/>
            <a:ext cx="3228976" cy="581659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0969624" y="2482850"/>
            <a:ext cx="2399030" cy="2168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10" dirty="0">
                <a:solidFill>
                  <a:srgbClr val="6D6A78"/>
                </a:solidFill>
                <a:latin typeface="Tahoma"/>
                <a:cs typeface="Tahoma"/>
              </a:rPr>
              <a:t>An</a:t>
            </a:r>
            <a:r>
              <a:rPr sz="1800" spc="-5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70" dirty="0">
                <a:solidFill>
                  <a:srgbClr val="6D6A78"/>
                </a:solidFill>
                <a:latin typeface="Tahoma"/>
                <a:cs typeface="Tahoma"/>
              </a:rPr>
              <a:t>abstract</a:t>
            </a:r>
            <a:r>
              <a:rPr sz="1800" spc="-4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110" dirty="0">
                <a:solidFill>
                  <a:srgbClr val="6D6A78"/>
                </a:solidFill>
                <a:latin typeface="Tahoma"/>
                <a:cs typeface="Tahoma"/>
              </a:rPr>
              <a:t>class</a:t>
            </a:r>
            <a:r>
              <a:rPr sz="1800" spc="-4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40" dirty="0">
                <a:solidFill>
                  <a:srgbClr val="6D6A78"/>
                </a:solidFill>
                <a:latin typeface="Tahoma"/>
                <a:cs typeface="Tahoma"/>
              </a:rPr>
              <a:t>or</a:t>
            </a:r>
            <a:endParaRPr sz="1800" dirty="0">
              <a:latin typeface="Tahoma"/>
              <a:cs typeface="Tahoma"/>
            </a:endParaRPr>
          </a:p>
          <a:p>
            <a:pPr marL="12700" marR="5080">
              <a:lnSpc>
                <a:spcPts val="2100"/>
              </a:lnSpc>
              <a:spcBef>
                <a:spcPts val="135"/>
              </a:spcBef>
            </a:pPr>
            <a:r>
              <a:rPr sz="1800" spc="65" dirty="0">
                <a:solidFill>
                  <a:srgbClr val="6D6A78"/>
                </a:solidFill>
                <a:latin typeface="Tahoma"/>
                <a:cs typeface="Tahoma"/>
              </a:rPr>
              <a:t>interface</a:t>
            </a:r>
            <a:r>
              <a:rPr sz="1800" spc="-4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85" dirty="0">
                <a:solidFill>
                  <a:srgbClr val="6D6A78"/>
                </a:solidFill>
                <a:latin typeface="Tahoma"/>
                <a:cs typeface="Tahoma"/>
              </a:rPr>
              <a:t>defines</a:t>
            </a:r>
            <a:r>
              <a:rPr sz="1800" spc="-4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75" dirty="0">
                <a:solidFill>
                  <a:srgbClr val="6D6A78"/>
                </a:solidFill>
                <a:latin typeface="Tahoma"/>
                <a:cs typeface="Tahoma"/>
              </a:rPr>
              <a:t>core </a:t>
            </a:r>
            <a:r>
              <a:rPr sz="1800" spc="80" dirty="0">
                <a:solidFill>
                  <a:srgbClr val="6D6A78"/>
                </a:solidFill>
                <a:latin typeface="Tahoma"/>
                <a:cs typeface="Tahoma"/>
              </a:rPr>
              <a:t>vehicle</a:t>
            </a:r>
            <a:r>
              <a:rPr sz="1800" spc="-5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6D6A78"/>
                </a:solidFill>
                <a:latin typeface="Tahoma"/>
                <a:cs typeface="Tahoma"/>
              </a:rPr>
              <a:t>operations</a:t>
            </a:r>
            <a:endParaRPr sz="1800" dirty="0">
              <a:latin typeface="Tahoma"/>
              <a:cs typeface="Tahoma"/>
            </a:endParaRPr>
          </a:p>
          <a:p>
            <a:pPr marL="12700" marR="532765">
              <a:lnSpc>
                <a:spcPts val="2180"/>
              </a:lnSpc>
              <a:spcBef>
                <a:spcPts val="10"/>
              </a:spcBef>
            </a:pPr>
            <a:r>
              <a:rPr sz="1800" spc="50" dirty="0">
                <a:solidFill>
                  <a:srgbClr val="6D6A78"/>
                </a:solidFill>
                <a:latin typeface="Tahoma"/>
                <a:cs typeface="Tahoma"/>
              </a:rPr>
              <a:t>without</a:t>
            </a:r>
            <a:r>
              <a:rPr sz="1800" spc="-5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70" dirty="0">
                <a:solidFill>
                  <a:srgbClr val="6D6A78"/>
                </a:solidFill>
                <a:latin typeface="Tahoma"/>
                <a:cs typeface="Tahoma"/>
              </a:rPr>
              <a:t>exposing </a:t>
            </a:r>
            <a:r>
              <a:rPr sz="1800" dirty="0">
                <a:solidFill>
                  <a:srgbClr val="6D6A78"/>
                </a:solidFill>
                <a:latin typeface="Tahoma"/>
                <a:cs typeface="Tahoma"/>
              </a:rPr>
              <a:t>internal</a:t>
            </a:r>
            <a:r>
              <a:rPr sz="1800" spc="254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800" spc="40" dirty="0">
                <a:solidFill>
                  <a:srgbClr val="6D6A78"/>
                </a:solidFill>
                <a:latin typeface="Tahoma"/>
                <a:cs typeface="Tahoma"/>
              </a:rPr>
              <a:t>details.</a:t>
            </a:r>
            <a:endParaRPr sz="1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500" spc="70" dirty="0">
                <a:solidFill>
                  <a:srgbClr val="6D6A78"/>
                </a:solidFill>
                <a:latin typeface="Tahoma"/>
                <a:cs typeface="Tahoma"/>
              </a:rPr>
              <a:t>Enforces</a:t>
            </a:r>
            <a:r>
              <a:rPr sz="1500" spc="-2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D6A78"/>
                </a:solidFill>
                <a:latin typeface="Tahoma"/>
                <a:cs typeface="Tahoma"/>
              </a:rPr>
              <a:t>a</a:t>
            </a:r>
            <a:r>
              <a:rPr sz="1500" spc="-2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6D6A78"/>
                </a:solidFill>
                <a:latin typeface="Tahoma"/>
                <a:cs typeface="Tahoma"/>
              </a:rPr>
              <a:t>consistent</a:t>
            </a:r>
            <a:endParaRPr sz="1500" dirty="0">
              <a:latin typeface="Tahoma"/>
              <a:cs typeface="Tahoma"/>
            </a:endParaRPr>
          </a:p>
          <a:p>
            <a:pPr marL="12700" marR="31115">
              <a:lnSpc>
                <a:spcPct val="100000"/>
              </a:lnSpc>
            </a:pPr>
            <a:r>
              <a:rPr sz="1500" spc="65" dirty="0">
                <a:solidFill>
                  <a:srgbClr val="6D6A78"/>
                </a:solidFill>
                <a:latin typeface="Tahoma"/>
                <a:cs typeface="Tahoma"/>
              </a:rPr>
              <a:t>contract</a:t>
            </a:r>
            <a:r>
              <a:rPr sz="1500" spc="-1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6D6A78"/>
                </a:solidFill>
                <a:latin typeface="Tahoma"/>
                <a:cs typeface="Tahoma"/>
              </a:rPr>
              <a:t>across</a:t>
            </a:r>
            <a:r>
              <a:rPr sz="1500" spc="-1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D6A78"/>
                </a:solidFill>
                <a:latin typeface="Tahoma"/>
                <a:cs typeface="Tahoma"/>
              </a:rPr>
              <a:t>all</a:t>
            </a:r>
            <a:r>
              <a:rPr sz="1500" spc="-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6D6A78"/>
                </a:solidFill>
                <a:latin typeface="Tahoma"/>
                <a:cs typeface="Tahoma"/>
              </a:rPr>
              <a:t>vehicle </a:t>
            </a:r>
            <a:r>
              <a:rPr sz="1500" spc="50" dirty="0">
                <a:solidFill>
                  <a:srgbClr val="6D6A78"/>
                </a:solidFill>
                <a:latin typeface="Tahoma"/>
                <a:cs typeface="Tahoma"/>
              </a:rPr>
              <a:t>types.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758485" y="2290762"/>
            <a:ext cx="3105150" cy="5514975"/>
          </a:xfrm>
          <a:custGeom>
            <a:avLst/>
            <a:gdLst/>
            <a:ahLst/>
            <a:cxnLst/>
            <a:rect l="l" t="t" r="r" b="b"/>
            <a:pathLst>
              <a:path w="3105150" h="5514975">
                <a:moveTo>
                  <a:pt x="0" y="5367336"/>
                </a:moveTo>
                <a:lnTo>
                  <a:pt x="0" y="147637"/>
                </a:lnTo>
                <a:lnTo>
                  <a:pt x="176" y="140384"/>
                </a:lnTo>
                <a:lnTo>
                  <a:pt x="8625" y="97907"/>
                </a:lnTo>
                <a:lnTo>
                  <a:pt x="29058" y="59681"/>
                </a:lnTo>
                <a:lnTo>
                  <a:pt x="59681" y="29058"/>
                </a:lnTo>
                <a:lnTo>
                  <a:pt x="97906" y="8626"/>
                </a:lnTo>
                <a:lnTo>
                  <a:pt x="140383" y="177"/>
                </a:lnTo>
                <a:lnTo>
                  <a:pt x="147637" y="0"/>
                </a:lnTo>
                <a:lnTo>
                  <a:pt x="2957512" y="0"/>
                </a:lnTo>
                <a:lnTo>
                  <a:pt x="3000366" y="6355"/>
                </a:lnTo>
                <a:lnTo>
                  <a:pt x="3039532" y="24881"/>
                </a:lnTo>
                <a:lnTo>
                  <a:pt x="3071637" y="53975"/>
                </a:lnTo>
                <a:lnTo>
                  <a:pt x="3093909" y="91138"/>
                </a:lnTo>
                <a:lnTo>
                  <a:pt x="3104439" y="133166"/>
                </a:lnTo>
                <a:lnTo>
                  <a:pt x="3105149" y="147637"/>
                </a:lnTo>
                <a:lnTo>
                  <a:pt x="3105149" y="5367336"/>
                </a:lnTo>
                <a:lnTo>
                  <a:pt x="3098792" y="5410193"/>
                </a:lnTo>
                <a:lnTo>
                  <a:pt x="3080266" y="5449358"/>
                </a:lnTo>
                <a:lnTo>
                  <a:pt x="3051171" y="5481462"/>
                </a:lnTo>
                <a:lnTo>
                  <a:pt x="3014008" y="5503735"/>
                </a:lnTo>
                <a:lnTo>
                  <a:pt x="2971982" y="5514264"/>
                </a:lnTo>
                <a:lnTo>
                  <a:pt x="2957512" y="5514974"/>
                </a:lnTo>
                <a:lnTo>
                  <a:pt x="147637" y="5514974"/>
                </a:lnTo>
                <a:lnTo>
                  <a:pt x="104778" y="5508617"/>
                </a:lnTo>
                <a:lnTo>
                  <a:pt x="65614" y="5490092"/>
                </a:lnTo>
                <a:lnTo>
                  <a:pt x="33510" y="5460996"/>
                </a:lnTo>
                <a:lnTo>
                  <a:pt x="11237" y="5423833"/>
                </a:lnTo>
                <a:lnTo>
                  <a:pt x="708" y="5381807"/>
                </a:lnTo>
                <a:lnTo>
                  <a:pt x="0" y="5367336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401799" cy="80962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0700" y="434975"/>
            <a:ext cx="62674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204" dirty="0"/>
              <a:t>Proposed</a:t>
            </a:r>
            <a:r>
              <a:rPr sz="4800" spc="-250" dirty="0"/>
              <a:t> </a:t>
            </a:r>
            <a:r>
              <a:rPr sz="4800" spc="90" dirty="0"/>
              <a:t>architecture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520700" y="1749425"/>
            <a:ext cx="336613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60" dirty="0">
                <a:solidFill>
                  <a:srgbClr val="6D6A78"/>
                </a:solidFill>
                <a:latin typeface="Tahoma"/>
                <a:cs typeface="Tahoma"/>
              </a:rPr>
              <a:t>ParkingLot</a:t>
            </a:r>
            <a:r>
              <a:rPr sz="1500" spc="-1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135" dirty="0">
                <a:solidFill>
                  <a:srgbClr val="6D6A78"/>
                </a:solidFill>
                <a:latin typeface="Tahoma"/>
                <a:cs typeface="Tahoma"/>
              </a:rPr>
              <a:t>-</a:t>
            </a:r>
            <a:r>
              <a:rPr sz="1500" spc="-1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6D6A78"/>
                </a:solidFill>
                <a:latin typeface="Tahoma"/>
                <a:cs typeface="Tahoma"/>
              </a:rPr>
              <a:t>Central</a:t>
            </a:r>
            <a:r>
              <a:rPr sz="1500" spc="-1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6D6A78"/>
                </a:solidFill>
                <a:latin typeface="Tahoma"/>
                <a:cs typeface="Tahoma"/>
              </a:rPr>
              <a:t>manager</a:t>
            </a:r>
            <a:r>
              <a:rPr sz="1500" spc="-1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D6A78"/>
                </a:solidFill>
                <a:latin typeface="Tahoma"/>
                <a:cs typeface="Tahoma"/>
              </a:rPr>
              <a:t>for</a:t>
            </a:r>
            <a:r>
              <a:rPr sz="1500" spc="-1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30" dirty="0">
                <a:solidFill>
                  <a:srgbClr val="6D6A78"/>
                </a:solidFill>
                <a:latin typeface="Tahoma"/>
                <a:cs typeface="Tahoma"/>
              </a:rPr>
              <a:t>slot </a:t>
            </a:r>
            <a:r>
              <a:rPr sz="1500" spc="50" dirty="0">
                <a:solidFill>
                  <a:srgbClr val="6D6A78"/>
                </a:solidFill>
                <a:latin typeface="Tahoma"/>
                <a:cs typeface="Tahoma"/>
              </a:rPr>
              <a:t>allocation,</a:t>
            </a:r>
            <a:r>
              <a:rPr sz="1500" spc="-1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6D6A78"/>
                </a:solidFill>
                <a:latin typeface="Tahoma"/>
                <a:cs typeface="Tahoma"/>
              </a:rPr>
              <a:t>vehicle</a:t>
            </a:r>
            <a:r>
              <a:rPr sz="1500" spc="-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D6A78"/>
                </a:solidFill>
                <a:latin typeface="Tahoma"/>
                <a:cs typeface="Tahoma"/>
              </a:rPr>
              <a:t>entry,</a:t>
            </a:r>
            <a:r>
              <a:rPr sz="1500" spc="-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6D6A78"/>
                </a:solidFill>
                <a:latin typeface="Tahoma"/>
                <a:cs typeface="Tahoma"/>
              </a:rPr>
              <a:t>and</a:t>
            </a:r>
            <a:r>
              <a:rPr sz="1500" spc="-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6D6A78"/>
                </a:solidFill>
                <a:latin typeface="Tahoma"/>
                <a:cs typeface="Tahoma"/>
              </a:rPr>
              <a:t>exit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500" spc="40" dirty="0">
                <a:solidFill>
                  <a:srgbClr val="6D6A78"/>
                </a:solidFill>
                <a:latin typeface="Tahoma"/>
                <a:cs typeface="Tahoma"/>
              </a:rPr>
              <a:t>operations.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0700" y="2663825"/>
            <a:ext cx="3980179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65" dirty="0">
                <a:solidFill>
                  <a:srgbClr val="6D6A78"/>
                </a:solidFill>
                <a:latin typeface="Tahoma"/>
                <a:cs typeface="Tahoma"/>
              </a:rPr>
              <a:t>Vehicle</a:t>
            </a:r>
            <a:r>
              <a:rPr sz="1500" spc="-4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135" dirty="0">
                <a:solidFill>
                  <a:srgbClr val="6D6A78"/>
                </a:solidFill>
                <a:latin typeface="Tahoma"/>
                <a:cs typeface="Tahoma"/>
              </a:rPr>
              <a:t>-</a:t>
            </a:r>
            <a:r>
              <a:rPr sz="1500" spc="-4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6D6A78"/>
                </a:solidFill>
                <a:latin typeface="Tahoma"/>
                <a:cs typeface="Tahoma"/>
              </a:rPr>
              <a:t>Base</a:t>
            </a:r>
            <a:r>
              <a:rPr sz="1500" spc="-4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90" dirty="0">
                <a:solidFill>
                  <a:srgbClr val="6D6A78"/>
                </a:solidFill>
                <a:latin typeface="Tahoma"/>
                <a:cs typeface="Tahoma"/>
              </a:rPr>
              <a:t>class</a:t>
            </a:r>
            <a:r>
              <a:rPr sz="1500" spc="-4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6D6A78"/>
                </a:solidFill>
                <a:latin typeface="Tahoma"/>
                <a:cs typeface="Tahoma"/>
              </a:rPr>
              <a:t>holding</a:t>
            </a:r>
            <a:r>
              <a:rPr sz="1500" spc="-4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6D6A78"/>
                </a:solidFill>
                <a:latin typeface="Tahoma"/>
                <a:cs typeface="Tahoma"/>
              </a:rPr>
              <a:t>general</a:t>
            </a:r>
            <a:r>
              <a:rPr sz="1500" spc="-4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6D6A78"/>
                </a:solidFill>
                <a:latin typeface="Tahoma"/>
                <a:cs typeface="Tahoma"/>
              </a:rPr>
              <a:t>vehicle </a:t>
            </a:r>
            <a:r>
              <a:rPr sz="1500" dirty="0">
                <a:solidFill>
                  <a:srgbClr val="6D6A78"/>
                </a:solidFill>
                <a:latin typeface="Tahoma"/>
                <a:cs typeface="Tahoma"/>
              </a:rPr>
              <a:t>data,</a:t>
            </a:r>
            <a:r>
              <a:rPr sz="1500" spc="4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6D6A78"/>
                </a:solidFill>
                <a:latin typeface="Tahoma"/>
                <a:cs typeface="Tahoma"/>
              </a:rPr>
              <a:t>extended</a:t>
            </a:r>
            <a:r>
              <a:rPr sz="1500" spc="4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6D6A78"/>
                </a:solidFill>
                <a:latin typeface="Tahoma"/>
                <a:cs typeface="Tahoma"/>
              </a:rPr>
              <a:t>by</a:t>
            </a:r>
            <a:r>
              <a:rPr sz="1500" spc="4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D6A78"/>
                </a:solidFill>
                <a:latin typeface="Tahoma"/>
                <a:cs typeface="Tahoma"/>
              </a:rPr>
              <a:t>Car,</a:t>
            </a:r>
            <a:r>
              <a:rPr sz="1500" spc="4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D6A78"/>
                </a:solidFill>
                <a:latin typeface="Tahoma"/>
                <a:cs typeface="Tahoma"/>
              </a:rPr>
              <a:t>Bike,</a:t>
            </a:r>
            <a:r>
              <a:rPr sz="1500" spc="4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6D6A78"/>
                </a:solidFill>
                <a:latin typeface="Tahoma"/>
                <a:cs typeface="Tahoma"/>
              </a:rPr>
              <a:t>and</a:t>
            </a:r>
            <a:r>
              <a:rPr sz="1500" spc="4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6D6A78"/>
                </a:solidFill>
                <a:latin typeface="Tahoma"/>
                <a:cs typeface="Tahoma"/>
              </a:rPr>
              <a:t>Truck </a:t>
            </a:r>
            <a:r>
              <a:rPr sz="1500" spc="90" dirty="0">
                <a:solidFill>
                  <a:srgbClr val="6D6A78"/>
                </a:solidFill>
                <a:latin typeface="Tahoma"/>
                <a:cs typeface="Tahoma"/>
              </a:rPr>
              <a:t>subclasses</a:t>
            </a:r>
            <a:r>
              <a:rPr sz="1500" spc="-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D6A78"/>
                </a:solidFill>
                <a:latin typeface="Tahoma"/>
                <a:cs typeface="Tahoma"/>
              </a:rPr>
              <a:t>for </a:t>
            </a:r>
            <a:r>
              <a:rPr sz="1500" spc="90" dirty="0">
                <a:solidFill>
                  <a:srgbClr val="6D6A78"/>
                </a:solidFill>
                <a:latin typeface="Tahoma"/>
                <a:cs typeface="Tahoma"/>
              </a:rPr>
              <a:t>type-specific</a:t>
            </a:r>
            <a:r>
              <a:rPr sz="150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6D6A78"/>
                </a:solidFill>
                <a:latin typeface="Tahoma"/>
                <a:cs typeface="Tahoma"/>
              </a:rPr>
              <a:t>behaviour.</a:t>
            </a:r>
            <a:endParaRPr sz="1500" dirty="0">
              <a:latin typeface="Tahoma"/>
              <a:cs typeface="Tahoma"/>
            </a:endParaRPr>
          </a:p>
          <a:p>
            <a:pPr marL="12700" marR="78740">
              <a:lnSpc>
                <a:spcPct val="100000"/>
              </a:lnSpc>
            </a:pPr>
            <a:r>
              <a:rPr sz="1500" spc="55" dirty="0">
                <a:solidFill>
                  <a:srgbClr val="6D6A78"/>
                </a:solidFill>
                <a:latin typeface="Tahoma"/>
                <a:cs typeface="Tahoma"/>
              </a:rPr>
              <a:t>ParkingSlot</a:t>
            </a:r>
            <a:r>
              <a:rPr sz="1500" spc="6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135" dirty="0">
                <a:solidFill>
                  <a:srgbClr val="6D6A78"/>
                </a:solidFill>
                <a:latin typeface="Tahoma"/>
                <a:cs typeface="Tahoma"/>
              </a:rPr>
              <a:t>-</a:t>
            </a:r>
            <a:r>
              <a:rPr sz="1500" spc="6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6D6A78"/>
                </a:solidFill>
                <a:latin typeface="Tahoma"/>
                <a:cs typeface="Tahoma"/>
              </a:rPr>
              <a:t>Represents </a:t>
            </a:r>
            <a:r>
              <a:rPr sz="1500" spc="10" dirty="0">
                <a:solidFill>
                  <a:srgbClr val="6D6A78"/>
                </a:solidFill>
                <a:latin typeface="Tahoma"/>
                <a:cs typeface="Tahoma"/>
              </a:rPr>
              <a:t>individual</a:t>
            </a:r>
            <a:r>
              <a:rPr sz="1500" spc="6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6D6A78"/>
                </a:solidFill>
                <a:latin typeface="Tahoma"/>
                <a:cs typeface="Tahoma"/>
              </a:rPr>
              <a:t>parking </a:t>
            </a:r>
            <a:r>
              <a:rPr sz="1500" spc="105" dirty="0">
                <a:solidFill>
                  <a:srgbClr val="6D6A78"/>
                </a:solidFill>
                <a:latin typeface="Tahoma"/>
                <a:cs typeface="Tahoma"/>
              </a:rPr>
              <a:t>spaces</a:t>
            </a:r>
            <a:r>
              <a:rPr sz="1500" spc="8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6D6A78"/>
                </a:solidFill>
                <a:latin typeface="Tahoma"/>
                <a:cs typeface="Tahoma"/>
              </a:rPr>
              <a:t>and</a:t>
            </a:r>
            <a:r>
              <a:rPr sz="1500" spc="9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10" dirty="0">
                <a:solidFill>
                  <a:srgbClr val="6D6A78"/>
                </a:solidFill>
                <a:latin typeface="Tahoma"/>
                <a:cs typeface="Tahoma"/>
              </a:rPr>
              <a:t>their</a:t>
            </a:r>
            <a:r>
              <a:rPr sz="1500" spc="8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10" dirty="0">
                <a:solidFill>
                  <a:srgbClr val="6D6A78"/>
                </a:solidFill>
                <a:latin typeface="Tahoma"/>
                <a:cs typeface="Tahoma"/>
              </a:rPr>
              <a:t>availability</a:t>
            </a:r>
            <a:r>
              <a:rPr sz="1500" spc="9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6D6A78"/>
                </a:solidFill>
                <a:latin typeface="Tahoma"/>
                <a:cs typeface="Tahoma"/>
              </a:rPr>
              <a:t>status.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11749" y="1749425"/>
            <a:ext cx="388112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0330">
              <a:lnSpc>
                <a:spcPct val="100000"/>
              </a:lnSpc>
              <a:spcBef>
                <a:spcPts val="100"/>
              </a:spcBef>
            </a:pPr>
            <a:r>
              <a:rPr sz="1500" spc="60" dirty="0">
                <a:solidFill>
                  <a:srgbClr val="6D6A78"/>
                </a:solidFill>
                <a:latin typeface="Tahoma"/>
                <a:cs typeface="Tahoma"/>
              </a:rPr>
              <a:t>Ticket</a:t>
            </a:r>
            <a:r>
              <a:rPr sz="1500" spc="4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135" dirty="0">
                <a:solidFill>
                  <a:srgbClr val="6D6A78"/>
                </a:solidFill>
                <a:latin typeface="Tahoma"/>
                <a:cs typeface="Tahoma"/>
              </a:rPr>
              <a:t>-</a:t>
            </a:r>
            <a:r>
              <a:rPr sz="1500" spc="5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80" dirty="0">
                <a:solidFill>
                  <a:srgbClr val="6D6A78"/>
                </a:solidFill>
                <a:latin typeface="Tahoma"/>
                <a:cs typeface="Tahoma"/>
              </a:rPr>
              <a:t>Records</a:t>
            </a:r>
            <a:r>
              <a:rPr sz="1500" spc="5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D6A78"/>
                </a:solidFill>
                <a:latin typeface="Tahoma"/>
                <a:cs typeface="Tahoma"/>
              </a:rPr>
              <a:t>entry</a:t>
            </a:r>
            <a:r>
              <a:rPr sz="1500" spc="4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D6A78"/>
                </a:solidFill>
                <a:latin typeface="Tahoma"/>
                <a:cs typeface="Tahoma"/>
              </a:rPr>
              <a:t>time,</a:t>
            </a:r>
            <a:r>
              <a:rPr sz="1500" spc="5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D6A78"/>
                </a:solidFill>
                <a:latin typeface="Tahoma"/>
                <a:cs typeface="Tahoma"/>
              </a:rPr>
              <a:t>exit</a:t>
            </a:r>
            <a:r>
              <a:rPr sz="1500" spc="5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D6A78"/>
                </a:solidFill>
                <a:latin typeface="Tahoma"/>
                <a:cs typeface="Tahoma"/>
              </a:rPr>
              <a:t>time,</a:t>
            </a:r>
            <a:r>
              <a:rPr sz="1500" spc="4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40" dirty="0">
                <a:solidFill>
                  <a:srgbClr val="6D6A78"/>
                </a:solidFill>
                <a:latin typeface="Tahoma"/>
                <a:cs typeface="Tahoma"/>
              </a:rPr>
              <a:t>and </a:t>
            </a:r>
            <a:r>
              <a:rPr sz="1500" spc="65" dirty="0">
                <a:solidFill>
                  <a:srgbClr val="6D6A78"/>
                </a:solidFill>
                <a:latin typeface="Tahoma"/>
                <a:cs typeface="Tahoma"/>
              </a:rPr>
              <a:t>calculated</a:t>
            </a:r>
            <a:r>
              <a:rPr sz="1500" spc="-1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6D6A78"/>
                </a:solidFill>
                <a:latin typeface="Tahoma"/>
                <a:cs typeface="Tahoma"/>
              </a:rPr>
              <a:t>parking</a:t>
            </a:r>
            <a:r>
              <a:rPr sz="1500" spc="-1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6D6A78"/>
                </a:solidFill>
                <a:latin typeface="Tahoma"/>
                <a:cs typeface="Tahoma"/>
              </a:rPr>
              <a:t>fee</a:t>
            </a:r>
            <a:r>
              <a:rPr sz="1500" spc="-1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D6A78"/>
                </a:solidFill>
                <a:latin typeface="Tahoma"/>
                <a:cs typeface="Tahoma"/>
              </a:rPr>
              <a:t>for</a:t>
            </a:r>
            <a:r>
              <a:rPr sz="1500" spc="-1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6D6A78"/>
                </a:solidFill>
                <a:latin typeface="Tahoma"/>
                <a:cs typeface="Tahoma"/>
              </a:rPr>
              <a:t>each</a:t>
            </a:r>
            <a:r>
              <a:rPr sz="1500" spc="-1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6D6A78"/>
                </a:solidFill>
                <a:latin typeface="Tahoma"/>
                <a:cs typeface="Tahoma"/>
              </a:rPr>
              <a:t>session.</a:t>
            </a:r>
            <a:endParaRPr sz="15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500" spc="75" dirty="0">
                <a:solidFill>
                  <a:srgbClr val="6D6A78"/>
                </a:solidFill>
                <a:latin typeface="Tahoma"/>
                <a:cs typeface="Tahoma"/>
              </a:rPr>
              <a:t>Main</a:t>
            </a:r>
            <a:r>
              <a:rPr sz="1500" spc="1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6D6A78"/>
                </a:solidFill>
                <a:latin typeface="Tahoma"/>
                <a:cs typeface="Tahoma"/>
              </a:rPr>
              <a:t>controller</a:t>
            </a:r>
            <a:r>
              <a:rPr sz="1500" spc="1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135" dirty="0">
                <a:solidFill>
                  <a:srgbClr val="6D6A78"/>
                </a:solidFill>
                <a:latin typeface="Tahoma"/>
                <a:cs typeface="Tahoma"/>
              </a:rPr>
              <a:t>-</a:t>
            </a:r>
            <a:r>
              <a:rPr sz="1500" spc="1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6D6A78"/>
                </a:solidFill>
                <a:latin typeface="Tahoma"/>
                <a:cs typeface="Tahoma"/>
              </a:rPr>
              <a:t>Provides</a:t>
            </a:r>
            <a:r>
              <a:rPr sz="1500" spc="1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D6A78"/>
                </a:solidFill>
                <a:latin typeface="Tahoma"/>
                <a:cs typeface="Tahoma"/>
              </a:rPr>
              <a:t>a</a:t>
            </a:r>
            <a:r>
              <a:rPr sz="1500" spc="1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D6A78"/>
                </a:solidFill>
                <a:latin typeface="Tahoma"/>
                <a:cs typeface="Tahoma"/>
              </a:rPr>
              <a:t>menu-</a:t>
            </a:r>
            <a:r>
              <a:rPr sz="1500" spc="55" dirty="0">
                <a:solidFill>
                  <a:srgbClr val="6D6A78"/>
                </a:solidFill>
                <a:latin typeface="Tahoma"/>
                <a:cs typeface="Tahoma"/>
              </a:rPr>
              <a:t>driven</a:t>
            </a:r>
            <a:endParaRPr sz="1500" dirty="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sz="1500" spc="55" dirty="0">
                <a:solidFill>
                  <a:srgbClr val="6D6A78"/>
                </a:solidFill>
                <a:latin typeface="Tahoma"/>
                <a:cs typeface="Tahoma"/>
              </a:rPr>
              <a:t>interface</a:t>
            </a:r>
            <a:r>
              <a:rPr sz="1500" spc="-1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D6A78"/>
                </a:solidFill>
                <a:latin typeface="Tahoma"/>
                <a:cs typeface="Tahoma"/>
              </a:rPr>
              <a:t>to</a:t>
            </a:r>
            <a:r>
              <a:rPr sz="1500" spc="-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6D6A78"/>
                </a:solidFill>
                <a:latin typeface="Tahoma"/>
                <a:cs typeface="Tahoma"/>
              </a:rPr>
              <a:t>coordinate</a:t>
            </a:r>
            <a:r>
              <a:rPr sz="1500" spc="-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D6A78"/>
                </a:solidFill>
                <a:latin typeface="Tahoma"/>
                <a:cs typeface="Tahoma"/>
              </a:rPr>
              <a:t>all</a:t>
            </a:r>
            <a:r>
              <a:rPr sz="1500" spc="-1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6D6A78"/>
                </a:solidFill>
                <a:latin typeface="Tahoma"/>
                <a:cs typeface="Tahoma"/>
              </a:rPr>
              <a:t>components</a:t>
            </a:r>
            <a:r>
              <a:rPr sz="1500" spc="-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40" dirty="0">
                <a:solidFill>
                  <a:srgbClr val="6D6A78"/>
                </a:solidFill>
                <a:latin typeface="Tahoma"/>
                <a:cs typeface="Tahoma"/>
              </a:rPr>
              <a:t>and </a:t>
            </a:r>
            <a:r>
              <a:rPr sz="1500" spc="60" dirty="0">
                <a:solidFill>
                  <a:srgbClr val="6D6A78"/>
                </a:solidFill>
                <a:latin typeface="Tahoma"/>
                <a:cs typeface="Tahoma"/>
              </a:rPr>
              <a:t>manage</a:t>
            </a:r>
            <a:r>
              <a:rPr sz="1500" spc="-40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6D6A78"/>
                </a:solidFill>
                <a:latin typeface="Tahoma"/>
                <a:cs typeface="Tahoma"/>
              </a:rPr>
              <a:t>user</a:t>
            </a:r>
            <a:r>
              <a:rPr sz="1500" spc="-3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6D6A78"/>
                </a:solidFill>
                <a:latin typeface="Tahoma"/>
                <a:cs typeface="Tahoma"/>
              </a:rPr>
              <a:t>interactions.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8299" y="7673975"/>
            <a:ext cx="9080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D6A78"/>
                </a:solidFill>
                <a:latin typeface="Tahoma"/>
                <a:cs typeface="Tahoma"/>
              </a:rPr>
              <a:t>Architecture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414447" y="7673975"/>
            <a:ext cx="1619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D6A78"/>
                </a:solidFill>
                <a:latin typeface="Tahoma"/>
                <a:cs typeface="Tahoma"/>
              </a:rPr>
              <a:t>Smart</a:t>
            </a:r>
            <a:r>
              <a:rPr sz="1200" spc="7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200" spc="45" dirty="0">
                <a:solidFill>
                  <a:srgbClr val="6D6A78"/>
                </a:solidFill>
                <a:latin typeface="Tahoma"/>
                <a:cs typeface="Tahoma"/>
              </a:rPr>
              <a:t>Parking</a:t>
            </a:r>
            <a:r>
              <a:rPr sz="1200" spc="75" dirty="0">
                <a:solidFill>
                  <a:srgbClr val="6D6A78"/>
                </a:solidFill>
                <a:latin typeface="Tahoma"/>
                <a:cs typeface="Tahoma"/>
              </a:rPr>
              <a:t> </a:t>
            </a:r>
            <a:r>
              <a:rPr sz="1200" spc="45" dirty="0">
                <a:solidFill>
                  <a:srgbClr val="6D6A78"/>
                </a:solidFill>
                <a:latin typeface="Tahoma"/>
                <a:cs typeface="Tahoma"/>
              </a:rPr>
              <a:t>System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378</Words>
  <Application>Microsoft Office PowerPoint</Application>
  <PresentationFormat>Custom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Tahoma</vt:lpstr>
      <vt:lpstr>Office Theme</vt:lpstr>
      <vt:lpstr>Object-Oriented Programming Project</vt:lpstr>
      <vt:lpstr>PowerPoint Presentation</vt:lpstr>
      <vt:lpstr>Target users Who the system is built for</vt:lpstr>
      <vt:lpstr>Core features What the system can do</vt:lpstr>
      <vt:lpstr>OOP concepts used Four core principles applied to model real-world parking entities</vt:lpstr>
      <vt:lpstr>Proposed 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Srinjoy Aich</dc:creator>
  <cp:lastModifiedBy>Srinjoy Aich</cp:lastModifiedBy>
  <cp:revision>1</cp:revision>
  <dcterms:created xsi:type="dcterms:W3CDTF">2026-03-28T13:53:31Z</dcterms:created>
  <dcterms:modified xsi:type="dcterms:W3CDTF">2026-03-28T14:09:21Z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2026-03-28T00:00:00Z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2026-03-28T00:00:00Z</vt:filetime>
  </property>
  <property fmtid="{D5CDD505-2E9C-101B-9397-08002B2CF9AE}" pid="5" name="Producer">
    <vt:lpwstr>pdf-lib (https://github.com/Hopding/pdf-lib)</vt:lpwstr>
  </property>
</Properties>
</file>